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local output (%)</c:v>
                </c:pt>
              </c:strCache>
            </c:strRef>
          </c:tx>
          <c:spPr>
            <a:solidFill>
              <a:srgbClr val="195FA8"/>
            </a:solidFill>
          </c:spPr>
          <c:cat>
            <c:strRef>
              <c:f>Sheet1!$A$2:$A$3</c:f>
              <c:strCache>
                <c:ptCount val="2"/>
                <c:pt idx="0">
                  <c:v>Fibre</c:v>
                </c:pt>
                <c:pt idx="1">
                  <c:v>Protein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2035 capacity target (%)</c:v>
                </c:pt>
              </c:strCache>
            </c:strRef>
          </c:tx>
          <c:spPr>
            <a:solidFill>
              <a:srgbClr val="008C83"/>
            </a:solidFill>
          </c:spPr>
          <c:cat>
            <c:strRef>
              <c:f>Sheet1!$A$2:$A$3</c:f>
              <c:strCache>
                <c:ptCount val="2"/>
                <c:pt idx="0">
                  <c:v>Fibre</c:v>
                </c:pt>
                <c:pt idx="1">
                  <c:v>Protein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percentage-point gap to 2035 target</c:v>
                </c:pt>
              </c:strCache>
            </c:strRef>
          </c:tx>
          <c:spPr>
            <a:solidFill>
              <a:srgbClr val="195FA8"/>
            </a:solidFill>
          </c:spPr>
          <c:cat>
            <c:strRef>
              <c:f>Sheet1!$A$2:$A$3</c:f>
              <c:strCache>
                <c:ptCount val="2"/>
                <c:pt idx="0">
                  <c:v>Fibre</c:v>
                </c:pt>
                <c:pt idx="1">
                  <c:v>Protein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Vegetable farm productivity (t/ha/year)</c:v>
                </c:pt>
              </c:strCache>
            </c:strRef>
          </c:tx>
          <c:spPr>
            <a:solidFill>
              <a:srgbClr val="195FA8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231.4</c:v>
                </c:pt>
                <c:pt idx="1">
                  <c:v>253.3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5053916-Basic-Urban-Farming-with-Hydroponic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2.png"/>
          <p:cNvPicPr>
            <a:picLocks noChangeAspect="1"/>
          </p:cNvPicPr>
          <p:nvPr/>
        </p:nvPicPr>
        <p:blipFill>
          <a:blip r:embed="rId2"/>
          <a:srcRect l="46000" r="3851"/>
          <a:stretch>
            <a:fillRect/>
          </a:stretch>
        </p:blipFill>
        <p:spPr>
          <a:xfrm>
            <a:off x="6080760" y="0"/>
            <a:ext cx="61109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6126480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749808" cy="749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60020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95FA8"/>
                </a:solidFill>
                <a:latin typeface="Arial"/>
              </a:rPr>
              <a:t>WSQ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252D"/>
                </a:solidFill>
                <a:latin typeface="Arial"/>
              </a:rPr>
              <a:t>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22191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C6970"/>
                </a:solidFill>
                <a:latin typeface="Arial"/>
              </a:rPr>
              <a:t>Course Code: TGS-2025053916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5968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C6970"/>
                </a:solidFill>
                <a:latin typeface="Arial"/>
              </a:rPr>
              <a:t>Version 2.1  ·  29 August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C6970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6247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Root-zone control • safe operations • Singapore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Digital Attendance (TRAQOM · SSG)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authorised identity → attendance event →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the TRAQOM attendance link or QR code shown in the LMS.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the correct course code and session before submitting.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TRAQOM records attendance; it is separate from the course-feedback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Open the TRAQOM attendance link or QR code shown in the LMS.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Confirm the correct course code and session before submitting.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TRAQOM records attendance; it is separate from the course-feedback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Your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2743200" cy="3474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2331720"/>
            <a:ext cx="1371600" cy="1371600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3317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GENERAL TRAINER PROFILE · COMPLETE BEFORE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828800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828800"/>
            <a:ext cx="73152" cy="713232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75104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Name and preferred form of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761488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761488"/>
            <a:ext cx="73152" cy="713232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2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Relevant urban-farming / hydroponics experience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694176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3694176"/>
            <a:ext cx="73152" cy="713232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840480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Training and Adult Education credentials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626864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626864"/>
            <a:ext cx="73152" cy="713232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773168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Site emergency and escalation role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2743200" cy="3474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2331720"/>
            <a:ext cx="1371600" cy="1371600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331720"/>
            <a:ext cx="1371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39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LEAD · TERTIARY INFOTECH ACADEMY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828800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1828800"/>
            <a:ext cx="73152" cy="713232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75104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WSQ trainer and courseware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761488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761488"/>
            <a:ext cx="73152" cy="713232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907792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Focus: mechanisms, measurements and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694176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3694176"/>
            <a:ext cx="73152" cy="713232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840480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Ask about system selection and troubleshooting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626864"/>
            <a:ext cx="7178040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626864"/>
            <a:ext cx="73152" cy="713232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773168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252D"/>
                </a:solidFill>
                <a:latin typeface="Arial"/>
              </a:rPr>
              <a:t>Escalation: assessment and course administration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sign in → open enrolled course → download current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the LMS using your authorised learner account.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Select this enrolled course and open the Course Material panel.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Download the current Learner Guide and Activities; report access errors without sharing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Open the LMS using your authorised learner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Select this enrolled course and open the Course Material panel.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Download the current Learner Guide and Activities; report access errors without sharing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name + role + growing experience + learning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Share your preferred name and work or community role.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Describe any hydroponics, gardening, food or facilities experience.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State one root-zone or system question you want answered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Share · your · preferred · name · work · community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Describe · hydroponics · gardening · food · facilities · experience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State · root-zone · system · question · want · answered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safe participation + evidence + respect + 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Follow farm, equipment, chemical and electrical safety instructions.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before touching equipment or photographing a farm area.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facts and label inferences; protect personal and commercial information.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Keep questions constructive and return shared equipment clean and complete.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73152" cy="150876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1305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Follow farm, equipment, chemical and electrical safety 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9659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965960"/>
            <a:ext cx="73152" cy="150876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488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1305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Ask before touching equipment or photographing a farm area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73152" cy="150876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39593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Record facts and label inferences; protect personal and commercial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794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3794760"/>
            <a:ext cx="73152" cy="150876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9776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E28A13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9593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Keep questions constructive and return shared equipment clean 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root-zone control → systems → production → Singapore cases → activities → aquaponics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Morning: hydroponic foundations, systems, water, nutrients and crop controls.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Afternoon: farm tour, hydroponics kit practice and aquaponics theory.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Assessment: closed-book WA-SAQ followed by observed Practical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Morning: hydroponic foundations, systems, water, nutrients and crop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Afternoon: farm tour, hydroponics kit practice and aquaponics theory.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Assessment: closed-book WA-SAQ followed by observed Practical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One-day delivery · 09:00–18:00 · lunch excluded · final assessment 17:00–18:00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40280"/>
            <a:ext cx="173736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240280"/>
            <a:ext cx="1737360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551176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95FA8"/>
                </a:solidFill>
                <a:latin typeface="Arial"/>
              </a:rPr>
              <a:t>09:00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20040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Briefing + foundations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14016" y="3264408"/>
            <a:ext cx="109728" cy="0"/>
          </a:xfrm>
          <a:prstGeom prst="line">
            <a:avLst/>
          </a:prstGeom>
          <a:ln w="25400">
            <a:solidFill>
              <a:srgbClr val="195F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42032" y="2240280"/>
            <a:ext cx="173736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2032" y="2240280"/>
            <a:ext cx="1737360" cy="9144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2551176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08C83"/>
                </a:solidFill>
                <a:latin typeface="Arial"/>
              </a:rPr>
              <a:t>10:45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20040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Controls + SG cases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97679" y="3264408"/>
            <a:ext cx="109729" cy="0"/>
          </a:xfrm>
          <a:prstGeom prst="line">
            <a:avLst/>
          </a:prstGeom>
          <a:ln w="25400">
            <a:solidFill>
              <a:srgbClr val="008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25696" y="2240280"/>
            <a:ext cx="173736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5696" y="2240280"/>
            <a:ext cx="1737360" cy="9144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551176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458B36"/>
                </a:solidFill>
                <a:latin typeface="Arial"/>
              </a:rPr>
              <a:t>13:30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20040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Farm tour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81344" y="3264408"/>
            <a:ext cx="109728" cy="0"/>
          </a:xfrm>
          <a:prstGeom prst="line">
            <a:avLst/>
          </a:prstGeom>
          <a:ln w="25400">
            <a:solidFill>
              <a:srgbClr val="458B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09359" y="2240280"/>
            <a:ext cx="173736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2240280"/>
            <a:ext cx="1737360" cy="9144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5" y="2551176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E28A13"/>
                </a:solidFill>
                <a:latin typeface="Arial"/>
              </a:rPr>
              <a:t>14:30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5" y="320040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Kit practice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65007" y="3264408"/>
            <a:ext cx="109729" cy="0"/>
          </a:xfrm>
          <a:prstGeom prst="line">
            <a:avLst/>
          </a:prstGeom>
          <a:ln w="25400">
            <a:solidFill>
              <a:srgbClr val="E28A1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93024" y="2240280"/>
            <a:ext cx="173736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4" y="2240280"/>
            <a:ext cx="1737360" cy="9144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551176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08C83"/>
                </a:solidFill>
                <a:latin typeface="Arial"/>
              </a:rPr>
              <a:t>16:15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0040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Aquaponics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48672" y="3264408"/>
            <a:ext cx="109728" cy="0"/>
          </a:xfrm>
          <a:prstGeom prst="line">
            <a:avLst/>
          </a:prstGeom>
          <a:ln w="25400">
            <a:solidFill>
              <a:srgbClr val="008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076688" y="2240280"/>
            <a:ext cx="173736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2240280"/>
            <a:ext cx="1737360" cy="91440"/>
          </a:xfrm>
          <a:prstGeom prst="rect">
            <a:avLst/>
          </a:prstGeom>
          <a:solidFill>
            <a:srgbClr val="B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04704" y="2551176"/>
            <a:ext cx="14813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B83B3B"/>
                </a:solidFill>
                <a:latin typeface="Arial"/>
              </a:rPr>
              <a:t>17:00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04704" y="3200400"/>
            <a:ext cx="148132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WA 30 min + PP 30 min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736592"/>
            <a:ext cx="10808208" cy="80467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919472"/>
            <a:ext cx="10442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252D"/>
                </a:solidFill>
                <a:latin typeface="Arial"/>
              </a:rPr>
              <a:t>Lunch 12:30–13:30 · breaks 10:30–10:45 and 16:00–16:15 · activities use the Farm Tour and Hydroponics Kit checklists.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knowledge K1–K4 + performance A1–A4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Explain equipment, operating procedures, GAP/WSH and maintenance controls.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Prepare and operate a hydroponics kit using measured evidence.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Comply with safety and hygiene requirements; clean, inspect and return equipment.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Explain · equipment · operating · procedures · GAP/WSH · maintenance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Prepare · operate · hydroponics · using · measured ·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Comply · with · safety · hygiene · requirements · clean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identity + instructions + permitted resources + evidence +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Read both candidate papers and confirm instructions before the assessment starts.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WA-SAQ is closed book; the PP is an observed practical task using assigned equipment.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Complete assessment attendance, follow assessor directions and use the documented appeal route after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Read both candidate papers and confirm instructions before the assessment starts.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The WA-SAQ is closed book; the PP is an observed practical task using assigned equipment.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Complete assessment attendance, follow assessor directions and use the documented appeal route after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 &amp;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competence evidence is separate from funding administration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WA-SAQ: four open-ended questions, closed book, 30 minutes.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Practical Performance: one observed task covering A1–A4, 30 minutes.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Attendance, subsidy and claim conditions follow the provider's current SSG administration; confirm any eligibility question with course administration.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WA-SAQ · four · open-ended · questions · closed · 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Practical · Performance · observed · task · covering · A1–A4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Attendance · subsidy · claim · conditions · follow · provider's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TRAQOM → assessment attendance → closed-book WA → observed PP → LMS submission → signed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2148840"/>
            <a:ext cx="2084831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9304" y="2395728"/>
            <a:ext cx="676656" cy="676656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95FA8"/>
                </a:solidFill>
                <a:latin typeface="Arial"/>
              </a:rPr>
              <a:t>TRAQOM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Scan the course QR on the LMS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88336" y="3291840"/>
            <a:ext cx="173736" cy="0"/>
          </a:xfrm>
          <a:prstGeom prst="line">
            <a:avLst/>
          </a:prstGeom>
          <a:ln w="25400">
            <a:solidFill>
              <a:srgbClr val="195F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148840"/>
            <a:ext cx="2084831" cy="9144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84448" y="2395728"/>
            <a:ext cx="676656" cy="676656"/>
          </a:xfrm>
          <a:prstGeom prst="round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376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8C83"/>
                </a:solidFill>
                <a:latin typeface="Arial"/>
              </a:rPr>
              <a:t>Assessment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Confirm the assessment event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479" y="3291840"/>
            <a:ext cx="173737" cy="0"/>
          </a:xfrm>
          <a:prstGeom prst="line">
            <a:avLst/>
          </a:prstGeom>
          <a:ln w="25400">
            <a:solidFill>
              <a:srgbClr val="008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75503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75503" y="2148840"/>
            <a:ext cx="2084831" cy="9144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79592" y="2395728"/>
            <a:ext cx="676656" cy="676656"/>
          </a:xfrm>
          <a:prstGeom prst="round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19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58B36"/>
                </a:solidFill>
                <a:latin typeface="Arial"/>
              </a:rPr>
              <a:t>WA →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19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30 min closed-book WA
30 min observed PP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78623" y="3291840"/>
            <a:ext cx="173737" cy="0"/>
          </a:xfrm>
          <a:prstGeom prst="line">
            <a:avLst/>
          </a:prstGeom>
          <a:ln w="25400">
            <a:solidFill>
              <a:srgbClr val="458B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70648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70648" y="2148840"/>
            <a:ext cx="2084831" cy="9144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74736" y="2395728"/>
            <a:ext cx="676656" cy="676656"/>
          </a:xfrm>
          <a:prstGeom prst="round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8664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28A13"/>
                </a:solidFill>
                <a:latin typeface="Arial"/>
              </a:rPr>
              <a:t>Submit on LMS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Upload the required responses and evidence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573767" y="3291840"/>
            <a:ext cx="173737" cy="0"/>
          </a:xfrm>
          <a:prstGeom prst="line">
            <a:avLst/>
          </a:prstGeom>
          <a:ln w="25400">
            <a:solidFill>
              <a:srgbClr val="E28A1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765792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5792" y="2148840"/>
            <a:ext cx="2084831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69880" y="2395728"/>
            <a:ext cx="676656" cy="676656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95FA8"/>
                </a:solidFill>
                <a:latin typeface="Arial"/>
              </a:rPr>
              <a:t>Summary record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Review the decision and sign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892040"/>
            <a:ext cx="10808208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056632"/>
            <a:ext cx="10442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252D"/>
                </a:solidFill>
                <a:latin typeface="Arial"/>
              </a:rPr>
              <a:t>Assessment sequence: WA-SAQ first, then Practical Performance; follow the candidate instructions and assessor directions.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Access the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github.com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Use the learner-safe repository for the Farm Tour and Hydroponics Kit activity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40280"/>
            <a:ext cx="498348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240280"/>
            <a:ext cx="4983480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633472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95FA8"/>
                </a:solidFill>
                <a:latin typeface="Arial"/>
              </a:rPr>
              <a:t>OPEN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218688"/>
            <a:ext cx="42153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6252D"/>
                </a:solidFill>
                <a:latin typeface="Arial"/>
              </a:rPr>
              <a:t>Browse the Activities folders and download the required checklist.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240280"/>
            <a:ext cx="4983480" cy="205740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240280"/>
            <a:ext cx="4983480" cy="9144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2633472"/>
            <a:ext cx="4434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8C83"/>
                </a:solidFill>
                <a:latin typeface="Arial"/>
              </a:rPr>
              <a:t>DOWNLOAD 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218688"/>
            <a:ext cx="42153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16252D"/>
                </a:solidFill>
                <a:latin typeface="Arial"/>
              </a:rPr>
              <a:t>Use GitHub Code → Download ZIP when a local copy is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006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95FA8"/>
                </a:solidFill>
                <a:latin typeface="Arial"/>
                <a:hlinkClick r:id="rId2"/>
              </a:rPr>
              <a:t>https://github.com/tertiarycourses/TGS-2025053916-Basic-Urban-Farming-with-Hydroponics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Practice Exam / Knowledge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exams.tertiaryinfotech.com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course WA-SAQ + observed PP are the assessed instruments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This is a non-certification WSQ course; revision centres on K1–K4 and A1–A4.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trainer-provided hydroponics knowledge check and both activity evidence sheets.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Optional Tertiary practice portal: https://exams.tertiaryinfotech.com/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This · non-certification · course · revision · centres · K1–K4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trainer-provided · hydroponics · knowledge · check · both ·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Optional · Tertiary · practice · portal · https://exams.tertiaryinfotech.com/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Safety stop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Stop and notify the trainer when a condition is unsafe or uncontrolled.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Damaged electrical equipment or water near unprotected power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Unknown chemical, missing label/SDS/PPE, unstable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Damaged · electrical · equipment · water · near · unprotected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Unknown · chemical · missing · label/SDS/PPE · unstable · 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Measurement conventions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Record value, unit, time, instrument and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is unitless; EC uses mS/cm or µS/cm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Temperature and calibration status support interpretation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unitless · uses · mS/cm · µS/cm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Temperature · calibration · status · support · interpretation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Hydroponic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How water, oxygen, ions and plant demand interact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Hydroponics is a controlled root-zone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water + oxygen + ions +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obtain mineral ions from a measured nutrient solution, not from soil particles.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grower must replace soil's buffering, aeration, anchorage and microbial functions.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healthy crop is the output of a balanced root-zone control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Roots obtain mineral ions from a measured nutrient solution, not from soil particles.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The grower must replace soil's buffering, aeration, anchorage and microbial functions.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 healthy crop is the output of a balanced root-zone control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The four root-zone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EC · pH · DO ·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EC estimates total dissolved ionic strength; it does not identify each element.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governs nutrient availability and chemical stability.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Dissolved oxygen and solution temperature shape respiration and root disease risk.</a:t>
            </a:r>
          </a:p>
        </p:txBody>
      </p:sp>
      <p:pic>
        <p:nvPicPr>
          <p:cNvPr id="13" name="Picture 12" descr="legacy-slid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Mass balance explains reservoir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inputs − plant uptake − discharge =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Water loss through transpiration can raise EC even when no fertiliser is added.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Selective ion uptake means a stable EC can still hide nutrient imbalance.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Top-up, correction and periodic replacement are different control actions.</a:t>
            </a:r>
          </a:p>
        </p:txBody>
      </p:sp>
      <p:pic>
        <p:nvPicPr>
          <p:cNvPr id="13" name="Picture 12" descr="local-course-ec-meter.jpg"/>
          <p:cNvPicPr>
            <a:picLocks noChangeAspect="1"/>
          </p:cNvPicPr>
          <p:nvPr/>
        </p:nvPicPr>
        <p:blipFill>
          <a:blip r:embed="rId2"/>
          <a:srcRect l="12455" r="12455"/>
          <a:stretch>
            <a:fillRect/>
          </a:stretch>
        </p:blipFill>
        <p:spPr>
          <a:xfrm>
            <a:off x="6144768" y="1847088"/>
            <a:ext cx="224028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1344" y="5879592"/>
            <a:ext cx="21579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course photo · EC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14232" y="1865376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14232" y="1865376"/>
            <a:ext cx="91440" cy="82296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06256" y="2048256"/>
            <a:ext cx="438912" cy="438912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204825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984248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5FA8"/>
                </a:solidFill>
                <a:latin typeface="Arial"/>
              </a:rPr>
              <a:t>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2677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top-up water + nutrients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4232" y="2852928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14232" y="2852928"/>
            <a:ext cx="91440" cy="82296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3035808"/>
            <a:ext cx="438912" cy="438912"/>
          </a:xfrm>
          <a:prstGeom prst="round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6256" y="303580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971800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458B36"/>
                </a:solidFill>
                <a:latin typeface="Arial"/>
              </a:rPr>
              <a:t>PLANT UPTAKE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25526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water + selective 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14232" y="3840480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14232" y="3840480"/>
            <a:ext cx="91440" cy="82296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06256" y="4023360"/>
            <a:ext cx="438912" cy="438912"/>
          </a:xfrm>
          <a:prstGeom prst="round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06256" y="40233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3959352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28A13"/>
                </a:solidFill>
                <a:latin typeface="Arial"/>
              </a:rPr>
              <a:t>DISCHARGE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428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drain + sampling losses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14232" y="4828032"/>
            <a:ext cx="2542032" cy="8229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14232" y="4828032"/>
            <a:ext cx="91440" cy="82296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06256" y="5010912"/>
            <a:ext cx="438912" cy="438912"/>
          </a:xfrm>
          <a:prstGeom prst="round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6256" y="501091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4946904"/>
            <a:ext cx="16002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RESERVOIR 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52303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16252D"/>
                </a:solidFill>
                <a:latin typeface="Arial"/>
              </a:rPr>
              <a:t>volume + ion profile + EC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852160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5C6970"/>
                </a:solidFill>
                <a:latin typeface="Arial"/>
              </a:rPr>
              <a:t>Measure trend ≠ diagnose composition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Root respiration sets an oxygen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extension.illinois.edu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warm water holds less dissolved O₂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consume oxygen to release energy for active ion transport.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Stagnant warm solution increases hypoxia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Aeration, return-flow turbulence and lower heat load improve the oxygen margin.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Roots consume oxygen to release energy for active ion transport.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Stagnant warm solution increases hypoxia risk.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Aeration, return-flow turbulence and lower heat load improve the oxygen margin.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Capillary and film flow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water depth changes air-filled porosity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thin nutrient film preserves a moist, oxygen-rich root surface.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Deep flooding provides thermal mass but needs active aeration.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Media pores can wick water while maintaining structural support.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thin · nutrient · film · preserves · moist · oxygen-rich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Deep · flooding · provides · thermal · mass · needs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Media · pores · wick · water · while · maintaining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Plant water moves down a potential gradient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 uptake → xylem → stomata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Light, heat, humidity and airflow change transpiration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must supply water fast enough to maintain cell turgor.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Wilting can occur despite a full reservoir when roots are hypoxic or diseased.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47088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cal-blog-protected-cr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15667"/>
            <a:ext cx="512064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farm-tour photo · protected crop water-demand context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Nutrient ions are not plant food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photosynthesis supplies carbon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Plants build carbohydrates from CO₂ and water using light energy.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Mineral ions enable enzymes, structure and osmotic regulation.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More fertiliser cannot compensate for inadequate light or damaged roots.</a:t>
            </a:r>
          </a:p>
        </p:txBody>
      </p:sp>
      <p:pic>
        <p:nvPicPr>
          <p:cNvPr id="13" name="Picture 12" descr="legacy-slide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Soil-free does not mean risk-free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one reservoir can connect every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Recirculation conserves water but can spread a waterborne pathogen rapidly.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Shared chemistry means one dosing error affects the whole crop.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Monitoring and sanitation are system controls, not optional housekeeping.</a:t>
            </a:r>
          </a:p>
        </p:txBody>
      </p:sp>
      <p:pic>
        <p:nvPicPr>
          <p:cNvPr id="13" name="Picture 12" descr="legacy-slide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The production loop is observable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setpoint → measure → compare → act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Define an acceptable band before taking a measurement.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a calibrated instrument and a representative sample.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the correction and confirm the value after mixing.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Define an acceptable band before taking a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a calibrated instrument and a representative sample.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Record the correction and confirm the value after mixing.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Evidence distinguishes control from guesswork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time-stamped log + calibration + crop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single reading without time, unit and instrument has weak evidential value.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Trend data reveals drift before visible symptoms appear.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Crop photographs should show both canopy and roots, not leaves alone.</a:t>
            </a:r>
          </a:p>
        </p:txBody>
      </p:sp>
      <p:pic>
        <p:nvPicPr>
          <p:cNvPr id="13" name="Picture 12" descr="legacy-slide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Hydroponic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Select and diagnose flow, support and failure 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Nutrient Film Technique (NFT)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shallow recirculating film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Channel slope and flow continuity are critical; loss of pumping exposes roots quickly.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Deep Water Culture (DWC)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roots suspended in aerated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Air delivery and raft hygiene govern root oxygen and disease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Kratky passive culture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static reservoir + deliberate air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growing air gap supplies oxygen; refilling to the original brim can drown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87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Ebb-and-flow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timed flood and drain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Flood duration wets media; complete drainage restores air-filled porosity.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91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Drip hydroponics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emitter uniformity + drainage fraction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Emitter blockage and uneven pressure create plant-to-plant variability.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297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008C83"/>
                </a:solidFill>
                <a:latin typeface="Arial"/>
              </a:rPr>
              <a:t>emitter uniformity + drainage fraction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Aeroponics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mist droplet delivery to bare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Fine delivery raises oxygen exposure but creates high sensitivity to nozzle or pump failure.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Fine delivery raises oxygen exposure but creates high sensitivity to nozzle or pump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Best fit depends on crop mass, root volume, failure tolerance and operator capability.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Acceptance evidence: even wetting, unobstructed return and healthy white/cream roots.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Wick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passive capillary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Low complexity suits small plants; transport rate limits high-demand crops.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pic>
        <p:nvPicPr>
          <p:cNvPr id="13" name="Picture 12" descr="legacy-slide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Dutch bucket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individual media containers + common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Isolation aids crop support, while a common return retains shared-solution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Best fit depends on crop mass, root volume, failure tolerance and operator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Acceptance evidence: even wetting, unobstructed return and healthy white/cream roots.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297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008C83"/>
                </a:solidFill>
                <a:latin typeface="Arial"/>
              </a:rPr>
              <a:t>individual media containers + common return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System selection is a constraint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crop × site × utilities ×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Fast leafy greens tolerate different support and cycle times from fruiting crops.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rooftop site adds heat, wind, loading and access constraints.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simplest system that reliably meets the production target is often the best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Fast · leafy · greens · tolerate · different ·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rooftop · site · adds · heat · wind · loading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simplest · system · that · reliably · meets · production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Open and recirculating loops trade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discharge loss versus shared-reservoir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drain-to-waste operation simplifies chemistry but loses water and nutrients.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Recirculation improves resource efficiency and demands stronger monitoring and hygiene.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Local discharge rules and nutrient recovery should be considered in the SOP.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Open · drain-to-waste · operation · simplifies · chemistry · loses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Recirculation · improves · resource · efficiency · demands · stronger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Local · discharge · rules · nutrient · recovery · should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Pump duty must include static and friction 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duty point = flow at total dynamic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pump's maximum flow is measured near zero head and is not the operating flow.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Long narrow tubing, elbows and elevation add resistance.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delivered channel flow instead of relying on the box label.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pump's · maximum · flow · measured · near · zero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Long · narrow · tubing · elbows · elevation · resistance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delivered · channel · flow · instead · relying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Return design protects against overflow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inlet flow ≤ unobstructed drain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Roots, media and biofilm reduce drainage capacity over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freeboard and emergency overflow limit water damage.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Power-off testing reveals siphon and reservoir-capacity hazards.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Roots · media · biofilm · reduce · drainage · capacity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freeboard · emergency · overflow · limit · water · damage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Power-off · testing · reveals · siphon · reservoir-capacity · hazards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Redundancy is proportional to crop loss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failure detection time × root drying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NFT may require rapid alarm response because exposed roots dry quickly.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DWC carries more water reserve but depends on aeration.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Spare pumps, independent air and tested response actions reduce consequence.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require · rapid · alarm · response · because · exposed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carries · more · water · reserve · depends · aeration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Spare · pumps · independent · tested · response · actions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Media properties drive irrigation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air-filled porosity · water holding ·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Coco coir holds water but requires controlled salt management.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Perlite increases aeration with low mass and low buffering.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Rockwool is uniform but demands careful wetness control and disposal planning.</a:t>
            </a:r>
          </a:p>
        </p:txBody>
      </p:sp>
      <p:pic>
        <p:nvPicPr>
          <p:cNvPr id="13" name="Picture 12" descr="legacy-slide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121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Food-contact materials need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compatible plastics + cleanable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Avoid unknown reused containers that may have held chemicals.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Opaque reservoirs suppress light-driven algae growth.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Smooth accessible surfaces make cleaning and inspection more reliable.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Avoid · unknown · reused · containers · that · have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Opaque · reservoirs · suppress · light-driven · algae · growth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Smooth · accessible · surfaces · make · cleaning · inspection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 system diagram is an operating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reservoir → pump → crop →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Mark flow direction, valves, sampling point and drain route.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Identify single points of failure and overflow paths.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diagram supports training, troubleshooting and maintenance isolation.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Mark flow direction, valves, sampling point and drain route.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Identify single points of failure and overflow paths.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The diagram supports training, troubleshooting and maintenance isolation.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Water and nutrients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Measure, mix and correct the root-zone chemistry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Source water sets the starting chemistry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alkalinity differs from 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is the current hydrogen-ion condition; alkalinity resists pH change.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 bicarbonate water can drive pH upward after correction.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source EC, pH and where relevant alkalinity before formulating.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current · hydrogen-ion · condition · alkalinity · resists ·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 · bicarbonate · water · drive · upward · after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source · where · relevant · alkalinity · before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controls chemical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leafy-green working band commonly ~5.5–6.5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Outside the operating band, some ions become less available or precipitate.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Adjust in small increments after nutrients are fully mixed.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Crop-specific SOPs override a generic band.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Outside · operating · band · some · ions · become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Adjust · small · increments · after · nutrients · fully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Crop-specific · SOPs · override · generic · band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EC is a proxy, not a recipe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mS/cm or µS/cm at a stated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EC increases with dissolved ions from fertiliser and source water.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Different ion mixtures can produce a similar EC.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supplier formulation and crop response together with 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increases · with · dissolved · ions · from · fertiliser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Different · mixtures · produce · similar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supplier · formulation · crop · response · together · with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Temperature compensation has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conductivity changes with 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ATC helps standardise meter readings but does not protect warm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solution temperature with pH and EC.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Compare trends at similar times of day where 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helps · standardise · meter · readings · does · protect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solution · temperature · with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Compare · trends · similar · times · where ·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Two-part nutrients prevent concentrate reactions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keep calcium separate from concentrated sulfate/phosphate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Mix Part A into water before Part B; never combine concentrates directly.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Allow circulation between additions.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Precipitate removes nutrients from solution and can block emitters.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Mix Part A into water before Part B; never combine concentrates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Allow circulation between additions.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Precipitate removes nutrients from solution and can block emitters.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Macronutrients build structure and metabolism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 · P · K · Ca · Mg ·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Nitrogen supports proteins and chlorophyll; imbalance can drive weak lush growth.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Potassium regulates water balance and enzyme activity.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Calcium depends strongly on transport to new tissue.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Nitrogen · supports · proteins · chlorophyll · imbalance · drive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Potassium · regulates · water · balance · enzyme ·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Calcium · depends · strongly · transport · tissue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Micronutrients operate at small concentrations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Fe · Mn · B · Zn · Cu · Mo · Cl · 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Trace requirement does not mean optional.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Excess micronutrients can become toxic quickly.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 and chelation influence iron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Trace · requirement · does · mean · optional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Excess · micronutrients · become · toxic · quickly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chelation · influence · iron · availability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Symptoms are patterns, not diagnoses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old versus new growth + distribution +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Mobile-element shortages often appear first on older leaves.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Immobile-element disorders often affect new growth.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root health, pH, EC and recent operations before correcting nutrients.</a:t>
            </a:r>
          </a:p>
        </p:txBody>
      </p:sp>
      <p:pic>
        <p:nvPicPr>
          <p:cNvPr id="13" name="Picture 12" descr="legacy-slide-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Legacy visual reused from original slide 133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Tip burn can occur with calcium 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calcium transport follows transpiration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Fast inner-leaf growth, high humidity and weak airflow can limit local calcium delivery.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Raising EC blindly may worsen water uptake.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Control growth rate, air movement and root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Fast · inner-leaf · growth · high · humidity · weak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Raising · blindly · worsen · water · uptake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Control · growth · rate · movement · root · conditions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Iron chlorosis needs differential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interveinal yellowing on young leaves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 root-zone pH can reduce iron availability.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 damage and cold/wet stress can mimic nutrient shortage.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 the limiting condition before adding more concentrate.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 · root-zone · reduce · iron · 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Root · damage · cold/wet · stress · mimic · nutrient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Correct · limiting · condition · before · adding · more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Dilution calculation prevents overdosing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C₁V₁ = C₂V₂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consistent units and confirm the concentrate label.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Estimate conservatively, mix, measure, then trim.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Wear required PPE and keep acids/bases labelled and segregated.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consistent · units · confirm · concentrate · label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Estimate · conservatively · measure · then · trim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Wear · required · keep · acids/bases · labelled · segregated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Top-up strategy depends on both water and 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reservoir level + EC trend + crop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Falling level with rising EC suggests water is leaving faster than 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Falling level with falling EC suggests strong nutrient uptake or dilution history.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Periodic replacement resets selective-ion drift and accumulated residues.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Falling · level · with · rising · suggests · water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Falling · level · with · falling · suggests · strong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Periodic · replacement · resets · selective-ion · drift · accumulated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Meter calibration is part of the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known standard → rinse → calibrate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fresh, unexpired standards appropriate to the meter.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pour used standard back into its bottle.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calibration date, standard value and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fresh · unexpired · standards · appropriate · meter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pour · used · standard · back · into · bottle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calibration · date · standard · value · result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Sampling location changes the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representative, mixed, bubble-free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dosing point can read very differently before complete mixing.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Rinse the cup and probe with sample solution.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Consistent sampling improves trend comparability.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dosing · point · read · very · differently · before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Rinse · probe · with · sample ·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Consistent · sampling · improves · trend · comparability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correction is a controlled chemical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small dose + circulation + remeasurement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Concentrated acid or alkali can burn skin and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Add chemical to water as specified; never improvise mixing order.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Stop if the label, SDS, PPE or correct dosing tool is unavailable.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Concentrated · acid · alkali · burn · skin · roots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chemical · water · specified · never · improvise · mixing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Stop · label · correct · dosing · tool · unavailable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Reservoir sizing buffers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extension.unr.edu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litres per plant and refill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larger volume changes temperature and EC more slowly.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Excess volume adds weight and cleaning burden.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Keep enough free capacity for return water during power-off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larger · volume · changes · temperature · more · slowly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Excess · volume · adds · weight · cleaning · burden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Keep · enough · free · capacity · return · water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Light exclusion is an algae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photons + nutrients + wet surface = algae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Cover reservoirs and unused planting holes.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Algae competes for oxygen, blocks flow and creates slippery surfaces.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Clean the root cause rather than relying only on chemical treatment.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Cover · reservoirs · unused · planting · holes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Algae · competes · oxygen · blocks · flow · creates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 · root · cause · rather · than · relying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WATER AND 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Biofilm changes hydraulics and hygiene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surface attachment + organic load +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Biofilm can harbour organisms and narrow emitters or channels.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Inspection targets junctions, dead legs and rough surfaces.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Cleaning must include physical removal, validated chemistry and rinsing.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Biofilm · harbour · organisms · narrow · emitters ·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Inspection · targets · junctions · dead · legs · 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Cleaning · must · include · physical · removal · validated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Crop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Control nursery, environment, hygiene and crop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Crop choice must fit the system envelope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rhs.org.uk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cycle time · canopy · root volume ·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Leafy greens suit short cycles and modest structural support.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Fruiting crops need longer occupancy, pollination and trellising.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Marketable yield, not plant count, is the production measure.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Leafy · greens · suit · short · cycles · modest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Fruiting · crops · need · longer · occupancy · pollination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Marketable · yield · plant · count · production · measure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Seed quality affects the whole batch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extension.illinois.edu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germination % and uniform emergence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cultivar, lot and sowing date.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Uniform plugs create more even transplant and harvest timing.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Separate non-germination from later seedling mortality.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cultivar · sowing · 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Uniform · plugs · create · more · even · transplant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Separate · non-germination · from · later · seedling · mortality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Nursery moisture balances water and oxygen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saturated is not synonymous with healthy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Overwet media reduces aeration and encourages disease.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Drying interrupts germination and damages fine roots.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clean water delivery and defined transplant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Overwet · media · reduces · aeration · encourages · disease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Drying · interrupts · germination · damages · fine · roots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clean · water · delivery · defined · transplant · acceptance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Transplant timing is a root-and-canopy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established roots + true leaves + intact plug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Overgrown seedlings suffer root binding and transition stress.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Weak seedlings create permanent variability in channel performance.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Reject diseased or mechanically damaged plugs.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Overgrown · seedlings · suffer · root · binding · transition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Weak · seedlings · create · permanent · variability · channel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Reject · diseased · mechanically · damaged · plugs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Light quantity is measured as photons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PPFD (µmol·m⁻²·s⁻¹) and DLI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PPFD describes instantaneous photosynthetic photon flux density.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DLI integrates PPFD over the photoperiod.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Uniformity matters because the lowest-light positions limit consistent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PPFD · describes · instantaneous · photosynthetic · photon · flux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integrates · PPFD · over · photoperiod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Uniformity · matters · because · lowest-light · positions · limit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Daily Light Integral links intensity and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DLI = PPFD × seconds ÷ 1,000,000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Longer photoperiod can partly compensate for lower intensity within crop limits.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More photons can raise cooling and electricity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at canopy height across the growing 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Longer · photoperiod · partly · compensate · lower · intensity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More · photons · raise · cooling · electricity ·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canopy · height · across · growing · area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Air temperature and humidity shape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vapour-pressure deficit (VPD)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Very low evaporative demand can reduce nutrient transport to fast-growing tissue.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Very high demand can exceed root water supply and close stomata.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crop response with environmental trends, not temperature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Very · evaporative · demand · reduce · nutrient · 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Very · high · demand · exceed · root · water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crop · response · with · environmental · trends · temperature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Airflow is a boundary-layer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leaf movement without mechanical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Gentle circulation supports gas exchange and canopy uniformity.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Dead zones retain humidity and favour disease.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Excess wind raises water demand and causes abrasion.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Gentle · circulation · supports · exchange · canopy · uniformity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Dead · zones · retain · humidity · favour · disease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Excess · wind · raises · water · demand · causes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Integrated pest management starts with exclusion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prevent → monitor → identify → intervene →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Screen openings and inspect incoming plants/materials.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sticky cards and crop scouting to detect change.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Choose interventions that are lawful, label-compliant and compatible with harvest.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Screen openings and inspect incoming plants/materials.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sticky cards and crop scouting to detect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Choose interventions that are lawful, label-compliant and compatible with harvest.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Sticky cards are trend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standard location + interval +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Card colour and placement affect which flying pests are captured.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Counts are comparable only with a consistent method.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trap result must be paired with crop inspection and correct identification.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Card · colour · placement · affect · which · flying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Counts · comparable · only · with · consistent · method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trap · result · must · paired · with · crop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Root inspection is non-negotiable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colour · odour · firmness · branching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Healthy roots are generally light-coloured and firm, with crop-dependent variation.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Brown slimy roots and off-odour require rapid investigation.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Inspect the least vigorous plants and the return end, not only the best canopy.</a:t>
            </a:r>
          </a:p>
        </p:txBody>
      </p:sp>
      <p:pic>
        <p:nvPicPr>
          <p:cNvPr id="13" name="Picture 12" descr="root-zone-diagnosis-v1.png"/>
          <p:cNvPicPr>
            <a:picLocks noChangeAspect="1"/>
          </p:cNvPicPr>
          <p:nvPr/>
        </p:nvPicPr>
        <p:blipFill>
          <a:blip r:embed="rId2"/>
          <a:srcRect r="63000"/>
          <a:stretch>
            <a:fillRect/>
          </a:stretch>
        </p:blipFill>
        <p:spPr>
          <a:xfrm>
            <a:off x="6144768" y="1847088"/>
            <a:ext cx="2468880" cy="33375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44768" y="5321808"/>
            <a:ext cx="2468880" cy="5669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5321808"/>
            <a:ext cx="82296" cy="5669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5394960"/>
            <a:ext cx="208483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458B36"/>
                </a:solidFill>
                <a:latin typeface="Arial"/>
              </a:rPr>
              <a:t>HEALTHY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623560"/>
            <a:ext cx="20848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16252D"/>
                </a:solidFill>
                <a:latin typeface="Arial"/>
              </a:rPr>
              <a:t>light-coloured · firm · branching</a:t>
            </a:r>
          </a:p>
        </p:txBody>
      </p:sp>
      <p:pic>
        <p:nvPicPr>
          <p:cNvPr id="18" name="Picture 17" descr="root-zone-diagnosis-v1.png"/>
          <p:cNvPicPr>
            <a:picLocks noChangeAspect="1"/>
          </p:cNvPicPr>
          <p:nvPr/>
        </p:nvPicPr>
        <p:blipFill>
          <a:blip r:embed="rId2"/>
          <a:srcRect l="65000"/>
          <a:stretch>
            <a:fillRect/>
          </a:stretch>
        </p:blipFill>
        <p:spPr>
          <a:xfrm>
            <a:off x="8796528" y="1847088"/>
            <a:ext cx="2468880" cy="33375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796528" y="5321808"/>
            <a:ext cx="2468880" cy="5669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96528" y="5321808"/>
            <a:ext cx="82296" cy="566928"/>
          </a:xfrm>
          <a:prstGeom prst="rect">
            <a:avLst/>
          </a:prstGeom>
          <a:solidFill>
            <a:srgbClr val="B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7" y="5394960"/>
            <a:ext cx="208483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B83B3B"/>
                </a:solidFill>
                <a:latin typeface="Arial"/>
              </a:rPr>
              <a:t>RAPID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5623560"/>
            <a:ext cx="20848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16252D"/>
                </a:solidFill>
                <a:latin typeface="Arial"/>
              </a:rPr>
              <a:t>brown · slimy · off-odour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971032"/>
            <a:ext cx="5074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Photorealistic root-zone comparison generated for this course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Harvest hygiene protects ready-to-eat produce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clean hands/tools + cleanable surfaces + lot 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Separate dirty maintenance tools from harvest equipment.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Remove damaged or contaminated produce from the marketable lot.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harvest date, crop/lot, quantity and responsible operator.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Separate · dirty · maintenance · tools · from · harvest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Remove · damaged · contaminated · produce · from · marketable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 · harvest · date · crop/lot · quantity · responsible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Housekeeping controls slips and contamination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dry walkways + contained chemicals + clear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Leaks are production deviations and safety hazards.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Electrical connections need dry, protected routing.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Emergency access, labels and SDS must remain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Leaks · production · deviations · safety · hazards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Electrical · connections · need · protected ·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Emergency · access · labels · must · remain · visible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Cleaning is not the same as disinfection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soil removal precedes disinfectant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Organic residue shields organisms and consumes disinfectant.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 concentration, contact time and material compatibility are required.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Rinsing and drying requirements follow the product label/SOP.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Organic · residue · shields · organisms · consumes · disinfectant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Correct · concentration · contact · time · material · compatibility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Rinsing · drying · requirements · follow · product · label/SOP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CROP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Maintenance preserves control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inspect → clean → replace → function-test →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Pumps, air stones, tubing, filters, probes and timers have different failure modes.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spare part is useful only if compatible and accessible.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Return equipment to service only after a functional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Pumps, air stones, tubing, filters, probes and timers have different failure modes.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 spare part is useful only if compatible and accessible.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Return equipment to service only after a functional verification.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Singapore hydroponics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Current policy, farms, productivity and technology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Singapore Food Story 2 resets the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mse.gov.sg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2035 capacity targets—20% fibre, 30% protein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current policy focuses on resilient production capacity and commercial viability.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Previous national framing has been superseded by the current 2035 capacity targets.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Hydroponics contributes mainly to the fibre category through vegetables.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82880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2025 output shows the remaining fibre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about 8% fibre and 25% protein in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Local output is only one layer of Singapore's food-resilience strategy.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Productivity, demand, import diversification and stockpiling interact.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technical system must still produce saleable crops at viable cost.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82880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Vegetable productivity rose in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231.4 → 253.3 tonnes/ha/year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reported roughly a 10% increase in farm productivity.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Area-normalised output supports comparison but does not reveal energy or cost.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Pair yield with grade-out, input use, labour and downtime.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6480" y="182880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ComCrop demonstrates rooftop hybrid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rooftop hydroponics + sunlight + supplemental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describes ComCrop as Singapore's first commercial rooftop farm, established in 2011.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Sensors support monitoring of water, light and nutrient conditions.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Manual transplanting, harvesting and cleaning remain important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47088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cal-blog-hydroponic-chann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15667"/>
            <a:ext cx="512064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farm-tour photo · protected hydroponics (illustrative; not ComCrop)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Sustenir compresses production into controlled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NFT + vertical layers + controlled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describes recirculating NFT with temperature, humidity and CO₂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farm page reports 3.2 tonnes of lettuce from 54 m² and over 90 tonnes/year.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Treat site figures as reported case data, not universal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describes · recirculating · with · temperature · humidity ·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farm · page · reports · tonnes · lettuce · from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Treat · site · figures · reported · case · data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Singrow targets temperate crops in the tropics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enterprise.nus.edu.sg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cultivar + climate control +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NUS Enterprise case describes proprietary hydroponic strawberries.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Computer vision, robotics and crop genetics form one production system.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Higher-value crops may justify complexity that leafy greens cannot.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Enterprise · case · describes · proprietary · hydroponic · strawberries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Computer · vision · robotics · crop · genetics · 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Higher-value · crops · justify · complexity · that · leafy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Greenphyto signals a scale-and-automation 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businesstimes.com.sg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reported 23 m chambers and up to 2,000 t/year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Business Times reported an S$80 million multi-storey hydroponic facility in January 2026.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report describes automated seeding, dosing, crop movement and climate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Capacity and company claims must be distinguished from verified realised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Business · Times · reported · S$80 · million · multi-storey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report · describes · automated · seeding · dosing · crop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Capacity · company · claims · must · distinguished · from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Digital twins turn operations into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businesstimes.com.sg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sensor state → model → prediction →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digital twin is useful only when sensors are calibrated and the model matches the crop process.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Prediction can support harvest planning, fault detection and energy optimisation.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Human verification remains necessary when biology departs from the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A digital twin is useful only when sensors are calibrated and the model matches the crop process.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Prediction can support harvest planning, fault detection and energy optimisation.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Human verification remains necessary when biology departs from the model.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Automation changes the job, not the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businesstimes.com.sg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actuators still depend on trustworthy measurements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Automated dosing magnifies a bad probe or wrong setpoint.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Alarms require ownership, escalation and tested response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Operators need crop observation plus technical troubleshooting skills.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Automated · dosing · magnifies · probe · wrong · setpoint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Alarms · require · ownership · escalation · tested ·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Operators · need · crop · observation · plus · technical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ACT Fund 2 supports capability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new S$70m tranche from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SFA lists capability upgrading, technology adoption and standards pathways.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grant does not remove the need for business and technical feasibility.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Define measurable production and capability outcomes before procurement.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lists · capability · upgrading · technology · adoption ·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grant · does · remove · need · business · technical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Define · measurable · production · capability · outcomes · before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SG GAP connects production with assurance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food safety + quality + environmental + worker welfare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Good agricultural practice depends on documented, repeatable controls.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Records support traceability and corrective action.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Certification scope and current requirements must be checked with SFA/standards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Good · agricultural · practice · depends · documented · repeatable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Records · support · traceability · corrective ·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Certification · scope · current · requirements · must · checked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Land productivity alone can mislead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yield/m² must be read with kWh, labour, water and grade-out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Vertical stacking can raise output per floor area.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Lighting, cooling, pumping and dehumidification add operating load.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resilient farm optimises the whole system, not a single headline metric.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Vertical · stacking · raise · output · floor · area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Lighting · cooling · pumping · dehumidification · operating · load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resilient · farm · optimises · whole · system · single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Tropical heat is a root-zone design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heat gain → warmer solution → lower oxygen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Shade, insulation, reservoir location and operating time influence heat load.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Cooling can protect crops but adds capital and energy cost.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the actual daily temperature profile before choosing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Shade · insulation · reservoir · location · operating ·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Cooling · protect · crops · adds · capital · energy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actual · daily · temperature · profile · before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Farm economics start with marketable yield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revenue = saleable mass × realised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High biological yield can coexist with poor grade-out or weak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Cycle time and space occupancy affect annual throughput.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Include packaging, logistics, rejects, energy, labour and downtime.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High · biological · yield · coexist · with · poor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Cycle · time · space · occupancy · affect · annual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Include · packaging · logistics · rejects · energy · labour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SINGAPORE HYDROPONICS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Resilience needs more than local farms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mse.gov.sg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local capacity + diversified imports + stockpiles +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Current Singapore policy uses multiple food-security strategies.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Hydroponics is a targeted production tool, not a universal substitute for imports.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System choice should be matched to crops Singapore can produce competitively.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Current Singapore policy uses multiple food-security strategies.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Hydroponics is a targeted production tool, not a universal substitute for imports.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System choice should be matched to crops Singapore can produce competitively.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Farm tour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Observe MEOD Farm using evidence-based checklists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Lunch break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Resume at the farm-tour assembly point stated by the 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Observe flow before judging appearance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trace reservoir → delivery → root zone →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Identify the system boundary and where water can leave it.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Locate measurement, dosing, filtration and overflow points.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observations; do not touch equipment without permission.</a:t>
            </a:r>
          </a:p>
        </p:txBody>
      </p:sp>
      <p:pic>
        <p:nvPicPr>
          <p:cNvPr id="12" name="Picture 11" descr="farm-tour-observ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Visual: generated for this course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Read the crop as a spatial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inlet/middle/return + upper/lower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Uniform symptoms suggest a shared input; local symptoms suggest position-specific causes.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Compare canopy colour, size and density across the system.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Photographs require farm permission and must avoid faces or confidential displays.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Uniform · symptoms · suggest · shared · input ·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Compare · canopy · colour · size · density · across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Photographs · require · farm · permission · must · avoid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Audit water and nutrient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instrument + setpoint + frequency +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where and when pH, EC and temperature are measured.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Look for calibration, dosing and corrective-action records.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Distinguish observed evidence from an operator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where · when · temperature ·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Look · calibration · dosing · corrective-action ·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Distinguish · observed · evidence · from · operator · explanation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Audit WSH and food-safety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hazard → existing control → residual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Observe wet floors, electrical routing, chemical storage and manual handling.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Look for clean/dirty zoning and harvest-tool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Escalate urgent hazards to the trainer; never intervene in machinery.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Observe · floors · electrical · routing · chemical ·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Look · clean/dirty · zoning · harvest-tool ·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Escalate · urgent · hazards · trainer · never · intervene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Map preventive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asset ID + interval + completion + function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Check pumps, filters, air delivery, sensors, lighting and structural supports.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how failure is detected and who responds.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Look for spare-part readiness and documented return-to-service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Check · pumps · filters · delivery · sensors · lighting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failure · detected · responds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Look · spare-part · readiness · documented · return-to-service · tests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Evaluate pest 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monitoring location + count trend + intervention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Identify exclusion barriers, scouting routines and sticky-card placement.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Ask how pests are identified before treatment.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interventions respect label, food-safety and pre-harvest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Identify · exclusion · barriers · scouting · routines · sticky-card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pests · identified · before · 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Confirm · interventions · respect · label · food-safety · pre-harvest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Separate claim, observation and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C/O/I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Claim: what the guide/operator says.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Observation: what you directly see, measure or read.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Inference: your explanation, labelled as provisional until 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Claim · what · guide/operator · says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Observation · what · directly · measure ·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Inference · your · explanation · labelled · provisional · until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FARM TOUR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Farm-tour evidence is a checklist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completed PDF + permitted photos + one flow sketch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activity PDF defines the required evidence.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concise factual notes with location and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Submit no personal data, trade secrets or unsafe photographs.</a:t>
            </a:r>
          </a:p>
        </p:txBody>
      </p:sp>
      <p:pic>
        <p:nvPicPr>
          <p:cNvPr id="12" name="Picture 11" descr="84620435_2820560564646593_6637451830857039872_n.jpg"/>
          <p:cNvPicPr>
            <a:picLocks noChangeAspect="1"/>
          </p:cNvPicPr>
          <p:nvPr/>
        </p:nvPicPr>
        <p:blipFill>
          <a:blip r:embed="rId2"/>
          <a:srcRect t="25238" b="25238"/>
          <a:stretch>
            <a:fillRect/>
          </a:stretch>
        </p:blipFill>
        <p:spPr>
          <a:xfrm>
            <a:off x="6144768" y="1847088"/>
            <a:ext cx="5120640" cy="19019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44768" y="3749039"/>
            <a:ext cx="5120640" cy="292608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3794760"/>
            <a:ext cx="4828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08C83"/>
                </a:solidFill>
                <a:latin typeface="Arial"/>
              </a:rPr>
              <a:t>OBSERVE · crop condition, spatial patterns and controls</a:t>
            </a:r>
          </a:p>
        </p:txBody>
      </p:sp>
      <p:pic>
        <p:nvPicPr>
          <p:cNvPr id="15" name="Picture 14" descr="86280825_2820560187979964_3816450489743048704_n.jpg"/>
          <p:cNvPicPr>
            <a:picLocks noChangeAspect="1"/>
          </p:cNvPicPr>
          <p:nvPr/>
        </p:nvPicPr>
        <p:blipFill>
          <a:blip r:embed="rId3"/>
          <a:srcRect t="29044" b="29044"/>
          <a:stretch>
            <a:fillRect/>
          </a:stretch>
        </p:blipFill>
        <p:spPr>
          <a:xfrm>
            <a:off x="6144768" y="4142232"/>
            <a:ext cx="2487168" cy="1389888"/>
          </a:xfrm>
          <a:prstGeom prst="rect">
            <a:avLst/>
          </a:prstGeom>
        </p:spPr>
      </p:pic>
      <p:pic>
        <p:nvPicPr>
          <p:cNvPr id="16" name="Picture 15" descr="86378079_2820561377979845_6990086092015796224_n.jpg"/>
          <p:cNvPicPr>
            <a:picLocks noChangeAspect="1"/>
          </p:cNvPicPr>
          <p:nvPr/>
        </p:nvPicPr>
        <p:blipFill>
          <a:blip r:embed="rId4"/>
          <a:srcRect t="12745" b="12745"/>
          <a:stretch>
            <a:fillRect/>
          </a:stretch>
        </p:blipFill>
        <p:spPr>
          <a:xfrm>
            <a:off x="8778240" y="4142232"/>
            <a:ext cx="2487168" cy="138988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44768" y="5532120"/>
            <a:ext cx="2487168" cy="27432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5532120"/>
            <a:ext cx="2487168" cy="274320"/>
          </a:xfrm>
          <a:prstGeom prst="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5568696"/>
            <a:ext cx="22494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195FA8"/>
                </a:solidFill>
                <a:latin typeface="Arial"/>
              </a:rPr>
              <a:t>ASK · verify the operator explanation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5568696"/>
            <a:ext cx="22494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458B36"/>
                </a:solidFill>
                <a:latin typeface="Arial"/>
              </a:rPr>
              <a:t>RECORD · location, time and 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879592"/>
            <a:ext cx="5074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Tertiary Infotech farm tours · blog archive, 15 Feb 2020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Hydroponics kit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Commission, verify and return a kit to a controlled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Kit readiness is an acceptance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clean · intact · stable · leak-free · electrically 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visual inspection occurs before water or power is applied.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Tubing must be secured without kinks and returns must be unobstructed.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Reject damaged cables, unknown containers or unstable structures.</a:t>
            </a:r>
          </a:p>
        </p:txBody>
      </p:sp>
      <p:pic>
        <p:nvPicPr>
          <p:cNvPr id="12" name="Picture 11" descr="WhatsApp Image 2026-03-14 at 15.29.13.jpeg"/>
          <p:cNvPicPr>
            <a:picLocks noChangeAspect="1"/>
          </p:cNvPicPr>
          <p:nvPr/>
        </p:nvPicPr>
        <p:blipFill>
          <a:blip r:embed="rId2"/>
          <a:srcRect t="20871" b="20871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lid, planting sites and media cups · 14 Mar 2026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Flow verification uses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every site wet + return stable + no overflow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Observe the last planting site, not only the first.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pump noise and vibration are normal for the unit.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timed-volume check can quantify delivered flow where required.</a:t>
            </a:r>
          </a:p>
        </p:txBody>
      </p:sp>
      <p:pic>
        <p:nvPicPr>
          <p:cNvPr id="12" name="Picture 11" descr="WhatsApp Image 2025-10-21 at 19.23.46.jpeg"/>
          <p:cNvPicPr>
            <a:picLocks noChangeAspect="1"/>
          </p:cNvPicPr>
          <p:nvPr/>
        </p:nvPicPr>
        <p:blipFill>
          <a:blip r:embed="rId2"/>
          <a:srcRect t="28164" b="28164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operating hydroponic unit and crop positions · 21 Oct 2025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 baseline precedes correction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source water pH/EC/temperature recorded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Baseline data separates source-water contribution from added nutrients.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clean labelled tools to avoid cross-contamination.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Learner Guide contains the detailed sequence and safety checks.</a:t>
            </a:r>
          </a:p>
        </p:txBody>
      </p:sp>
      <p:pic>
        <p:nvPicPr>
          <p:cNvPr id="12" name="Picture 11" descr="local-course-ec-meter.jpg"/>
          <p:cNvPicPr>
            <a:picLocks noChangeAspect="1"/>
          </p:cNvPicPr>
          <p:nvPr/>
        </p:nvPicPr>
        <p:blipFill>
          <a:blip r:embed="rId2"/>
          <a:srcRect t="20871" b="20871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source-water EC measurement · 14 Mar 2026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Mixing order protects chemistry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water → A → circulate → B → circulate →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Concentrates must never contact each other directly.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final EC is verified against the activity setpoint supplied by the trainer.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Any deviation is corrected incrementally and recorded.</a:t>
            </a:r>
          </a:p>
        </p:txBody>
      </p:sp>
      <p:pic>
        <p:nvPicPr>
          <p:cNvPr id="12" name="Picture 11" descr="WhatsApp Image 2026-06-06 at 15.53.43.jpeg"/>
          <p:cNvPicPr>
            <a:picLocks noChangeAspect="1"/>
          </p:cNvPicPr>
          <p:nvPr/>
        </p:nvPicPr>
        <p:blipFill>
          <a:blip r:embed="rId2"/>
          <a:srcRect t="20871" b="20871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dosing tools, meter and measured sample · 6 Jun 2026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adjustment uses a stop condition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no label/SDS/PPE = no dosing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trainer-provided product and dedicated dosing tool only.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Add small amounts, circulate and remeasure.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Never return excess chemical to the stock container.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trainer-provided · product · dedicated · dosing · tool ·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small · amounts · circulate · remeasure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Never · return · excess · chemical · stock · container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Transplant acceptance protects uniformity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intact plug + healthy root + centred support + stable crown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Roots should contact moisture without burying the crown.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Remove weak or diseased seedlings from the production batch.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Plant labels preserve cultivar and date traceability.</a:t>
            </a:r>
          </a:p>
        </p:txBody>
      </p:sp>
      <p:pic>
        <p:nvPicPr>
          <p:cNvPr id="13" name="Picture 12" descr="WhatsApp Image 2025-07-25 at 09.04.54 (1).jpeg"/>
          <p:cNvPicPr>
            <a:picLocks noChangeAspect="1"/>
          </p:cNvPicPr>
          <p:nvPr/>
        </p:nvPicPr>
        <p:blipFill>
          <a:blip r:embed="rId2"/>
          <a:srcRect t="33323" b="33323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accepted seedling, net cup and visible roots · 25 Jul 2025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Power-off behaviour is part of commissioning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no siphon overflow + reservoir contains return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Simulated power loss exposes drainage and restart behaviour.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Restart must restore delivery to every site.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conduct the test where electrical or spill controls are inadequate.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Simulated · power · loss · exposes · drainage · restart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Restart · must · restore · delivery · every · 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conduct · test · where · electrical · spill · controls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 correction log closes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before → action → after → operator →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Record the reason and exact quantity added.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Allow adequate mixing before the after-reading.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Escalate if the value does not respond as expected.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847088"/>
            <a:ext cx="5120640" cy="3977639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hatsApp Image 2026-08-29 at 17.18.18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395728"/>
            <a:ext cx="5120640" cy="2880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learners documenting kit setup and evidence · 29 Aug 2026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Root-zone diagnosis starts below the canopy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sfa.gov.sg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roots + flow + temperature + chemistry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Leaf symptoms alone can lead to the wrong correction.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Inspect for obstruction, low aeration, warmth and odour.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Isolate suspect plants and protect the shared reservoir where required by SOP.</a:t>
            </a:r>
          </a:p>
        </p:txBody>
      </p:sp>
      <p:pic>
        <p:nvPicPr>
          <p:cNvPr id="13" name="Picture 12" descr="WhatsApp Image 2025-07-25 at 09.04.53.jpeg"/>
          <p:cNvPicPr>
            <a:picLocks noChangeAspect="1"/>
          </p:cNvPicPr>
          <p:nvPr/>
        </p:nvPicPr>
        <p:blipFill>
          <a:blip r:embed="rId2"/>
          <a:srcRect t="33323" b="33323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root branching and net-cup condition · 25 Jul 2025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Cleaning returns the kit to a controlled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drain → remove residue → clean → rinse → dry →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Electrical components are isolated from water.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Disassemble only parts approved by the equipment SOP.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Final evidence shows a dry, complete kit with chemicals secured.</a:t>
            </a:r>
          </a:p>
        </p:txBody>
      </p:sp>
      <p:pic>
        <p:nvPicPr>
          <p:cNvPr id="12" name="Picture 11" descr="WhatsApp Image 2026-03-14 at 15.29.12.jpeg"/>
          <p:cNvPicPr>
            <a:picLocks noChangeAspect="1"/>
          </p:cNvPicPr>
          <p:nvPr/>
        </p:nvPicPr>
        <p:blipFill>
          <a:blip r:embed="rId2"/>
          <a:srcRect t="20871" b="20871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Local practice photo · disassembled media cups before cleaning and return · 14 Mar 2026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HYDROPONICS KIT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Practice evidence maps to A1–A4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prepare · operate · comply · maintain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A1: materials and equipment ready.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A2: system operates to target with measured evidence.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A3: WSH, food safety and housekeeping controls observed.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A4: cleaning, maintenance check and storage completed.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659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65960"/>
            <a:ext cx="73152" cy="150876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1305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A1: materials and equipment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9659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965960"/>
            <a:ext cx="73152" cy="150876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488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1305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A2: system operates to target with measured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73152" cy="150876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39593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A3: WSH, food safety and housekeeping controls observed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3794760"/>
            <a:ext cx="2423160" cy="150876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3794760"/>
            <a:ext cx="73152" cy="150876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977640"/>
            <a:ext cx="4389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E28A13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959352"/>
            <a:ext cx="16002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252D"/>
                </a:solidFill>
                <a:latin typeface="Arial"/>
              </a:rPr>
              <a:t>A4: cleaning, maintenance check and storage completed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280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200" b="1">
                <a:solidFill>
                  <a:srgbClr val="D9E3E6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424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>
                <a:solidFill>
                  <a:srgbClr val="16252D"/>
                </a:solidFill>
                <a:latin typeface="Arial"/>
              </a:rPr>
              <a:t>Aquaponics theory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611880"/>
            <a:ext cx="2377440" cy="54864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959352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C6970"/>
                </a:solidFill>
                <a:latin typeface="Arial"/>
              </a:rPr>
              <a:t>Balance fish, microbes, plants and water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Aquaponics couples two biological processes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waste → nitrification → plant uptake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Fish produce ammonia-containing waste.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Nitrifying microbes convert ammonia to nitrite and then nitrate.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Plants remove nutrients, while water returns to the culture system.</a:t>
            </a:r>
          </a:p>
        </p:txBody>
      </p:sp>
      <p:pic>
        <p:nvPicPr>
          <p:cNvPr id="12" name="Picture 11" descr="aquaponics-loop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12064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870448"/>
            <a:ext cx="5074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Visual: generated for this course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The nitrogen cycle has toxic intermediates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NH₃/NH₄⁺ → NO₂⁻ → NO₃⁻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Unionised ammonia toxicity rises with pH and temperature.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Nitrite interferes with oxygen transport in fish.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Nitrate is less acutely toxic but still requires system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Unionised ammonia toxicity rises with pH and temperature.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Nitrite interferes with oxygen transport in fish.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Nitrate is less acutely toxic but still requires system balance.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Three living groups share one water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· microbes · plants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setpoint suitable for plants alone may harm fish or biofilter microbes.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Feeding rate drives nutrient loading and oxygen demand.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Management aims for an acceptable compromise, not a single-species optimum.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setpoint · suitable · plants · alone · harm · fish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Feeding · rate · drives · nutrient · loading · oxygen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Management · aims · acceptable · compromise · single-species · optimum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pH is a compromise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health + nitrification + nutrient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Nitrification tends to acidify the system over time.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Very high pH can increase toxic unionised ammonia fraction.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Corrections must be gradual and compatible with all organisms.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Nitrification · tends · acidify · system · over ·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Very · high · increase · toxic · unionised · ammonia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Corrections · must · gradual · compatible · with · organisms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650992"/>
            <a:ext cx="4572000" cy="10972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5650992"/>
            <a:ext cx="2606040" cy="1097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Dissolved oxygen supports fish, roots and biofilter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three simultaneous oxygen demands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Warm water and high feeding increase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Aeration failure can become an emergency.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Independent air delivery and alarms may be justified by stock value and response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Warm · water · high · feeding · increase ·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Aeration · failure · become · emergency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Independent · delivery · alarms · justified · stock · value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Solids management precedes mineralisation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settle/filter solids before they foul roots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Uneaten feed and faecal solids consume oxygen during decomposition.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Mechanical separation reduces deposition in plant channels.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Captured nutrients may be mineralised in a controlled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Uneaten feed and faecal solids consume oxygen during decomposition.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Mechanical separation reduces deposition in plant channels.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Captured nutrients may be mineralised in a controlled process.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Biofilters need surface area and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attached nitrifiers + oxygenated water + alkalinity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New systems require cycling before full fish loading.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Disinfectants and sudden chemistry changes can damage the microbial community.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Monitor ammonia and nitrite during startup and after disturbances.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systems · require · cycling · before · full · fish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Disinfectants · sudden · chemistry · changes · damage · microbial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Monitor · ammonia · nitrite · during · startup · after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Feeding rate is the nutrient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feed mass/day links fish biomass to plant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Overfeeding raises waste, oxygen demand and water-quality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Underfeeding limits fish growth and plant nutrients.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species-, feed- and system-specific design guidance.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Overfeeding · raises · waste · oxygen · demand · water-quality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Underfeeding · limits · fish · growth · plant · nutrients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species- · feed- · system-specific · design · guidance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Decoupled aquaponics separates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controlled transfer between fish and plant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decoupled design can protect fish from crop-specific corrections.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It adds tanks, controls, monitoring and operating complexity.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The value depends on production goals and operator capability.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decoupled · design · protect · fish · from · crop-specific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adds · tanks · controls · monitoring · operating · complexity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value · depends · production · goals · operator · capability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Biosecurity spans water, animals and plants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quarantine + source control + sanitation +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transfer water, nets or plants between systems without control.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Fish health and food-safety obligations differ from plant-only hydroponics.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Mortality, treatment and water-quality records support investigation.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transfer · water · nets · plants · between ·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Fish · health · food-safety · obligations · differ · 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Mortality · treatment · water-quality · records · support · investigation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Hydroponics and aquaponics solve different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formulated nutrients versus biological nutrient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Hydroponics offers direct nutrient formulation and easier crop isolation.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Aquaponics creates coupled biological value and coupled risk.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Choose based on production objective, market, regulation and operational skill.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Hydroponics · offers · direct · nutrient · formulation · easier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Aquaponics · creates · coupled · biological · value · coupled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Choose · based · production · objective · market · regulation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AQUAPONICS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Aquaponics troubleshooting follows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fish → feed → oxygen → ammonia → biofilter → 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Start with animal behaviour and critical water quality.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Trace flow and aeration before adding chemicals.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Correct the cause while protecting the most sensitive organism.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Start with animal behaviour and critical water quality.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Trace flow and aeration before adding chemicals.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Correct the cause while protecting the most sensitive organism.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diagnose the loop + operate safely + verify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Explain the water–root–canopy mechanism and select a suitable hydroponic system.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Measure and interpret pH, EC, temperature, flow and crop/root condition.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Complete the farm-tour and kit-practice evidence to SOP.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Explain · water–root–canopy · mechanism · select · suitable · hydroponic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 · interpret · temperature · flow · crop/root · condition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Complete · farm-tour · kit-practice · evidence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current files + candidate papers + secure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the enrolled course page to access the current Learner Guide and Activities.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only the candidate assessment files issued for this session.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Submit the required answers and evidence through the authorised LMS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Use the enrolled course page to access the current Learner Guide and Activities.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Open only the candidate assessment files issued for this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Submit the required answers and evidence through the authorised LMS channel.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Completion &amp;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attendance + completed training + competent assessment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Complete the required training attendance and both assessment instruments.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A Competent decision requires the approved WA-SAQ and Practical Performance evidence.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Eligible competent learners receive the WSQ completion credential through the provider's current SSG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Complete · required · training · attendance · both · assessment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Competent · decision · requires · approved · WA-SAQ · Practical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Eligible · competent · learners · receive · completion · credential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reflect → rate → comment → 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the course-feedback form provided in the LMS after the learning activities.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Give specific comments on content, facilitation, venue and hands-on support.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Course feedback is separate from TRAQOM digital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Open the course-feedback form provided in the LMS after the learning activities.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Give specific comments on content, facilitation, venue and hands-on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Course feedback is separate from TRAQOM digital attendance.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WA-SAQ 30 min → Practical Performance 30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Complete the assessment digital-attendance event before starting.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Sit the closed-book WA-SAQ first, then the observed Practical Performance.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Submit through the LMS and sign the Assessment Summary Record after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Complete · assessment · digital-attendance · event · before · starting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closed-book · WA-SAQ · first · then · observed · Practical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Submit · through · sign · Assessment · Summary · Record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TRAQOM → assessment attendance → closed-book WA → observed PP → LMS submission → signed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2148840"/>
            <a:ext cx="2084831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9304" y="2395728"/>
            <a:ext cx="676656" cy="676656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95FA8"/>
                </a:solidFill>
                <a:latin typeface="Arial"/>
              </a:rPr>
              <a:t>TRAQOM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Scan the course QR on the LMS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88336" y="3291840"/>
            <a:ext cx="173736" cy="0"/>
          </a:xfrm>
          <a:prstGeom prst="line">
            <a:avLst/>
          </a:prstGeom>
          <a:ln w="25400">
            <a:solidFill>
              <a:srgbClr val="195F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2148840"/>
            <a:ext cx="2084831" cy="9144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84448" y="2395728"/>
            <a:ext cx="676656" cy="676656"/>
          </a:xfrm>
          <a:prstGeom prst="round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376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8C83"/>
                </a:solidFill>
                <a:latin typeface="Arial"/>
              </a:rPr>
              <a:t>Assessment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376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Confirm the assessment event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479" y="3291840"/>
            <a:ext cx="173737" cy="0"/>
          </a:xfrm>
          <a:prstGeom prst="line">
            <a:avLst/>
          </a:prstGeom>
          <a:ln w="25400">
            <a:solidFill>
              <a:srgbClr val="008C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75503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75503" y="2148840"/>
            <a:ext cx="2084831" cy="91440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79592" y="2395728"/>
            <a:ext cx="676656" cy="676656"/>
          </a:xfrm>
          <a:prstGeom prst="round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19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458B36"/>
                </a:solidFill>
                <a:latin typeface="Arial"/>
              </a:rPr>
              <a:t>WA →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19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30 min closed-book WA
30 min observed PP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78623" y="3291840"/>
            <a:ext cx="173737" cy="0"/>
          </a:xfrm>
          <a:prstGeom prst="line">
            <a:avLst/>
          </a:prstGeom>
          <a:ln w="25400">
            <a:solidFill>
              <a:srgbClr val="458B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70648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70648" y="2148840"/>
            <a:ext cx="2084831" cy="91440"/>
          </a:xfrm>
          <a:prstGeom prst="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74736" y="2395728"/>
            <a:ext cx="676656" cy="676656"/>
          </a:xfrm>
          <a:prstGeom prst="roundRect">
            <a:avLst/>
          </a:prstGeom>
          <a:solidFill>
            <a:srgbClr val="E28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98664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28A13"/>
                </a:solidFill>
                <a:latin typeface="Arial"/>
              </a:rPr>
              <a:t>Submit on LMS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Upload the required responses and evidence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573767" y="3291840"/>
            <a:ext cx="173737" cy="0"/>
          </a:xfrm>
          <a:prstGeom prst="line">
            <a:avLst/>
          </a:prstGeom>
          <a:ln w="25400">
            <a:solidFill>
              <a:srgbClr val="E28A1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765792" y="2148840"/>
            <a:ext cx="2084831" cy="2331720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65792" y="2148840"/>
            <a:ext cx="2084831" cy="91440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69880" y="2395728"/>
            <a:ext cx="676656" cy="676656"/>
          </a:xfrm>
          <a:prstGeom prst="round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2395728"/>
            <a:ext cx="676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8" y="3218688"/>
            <a:ext cx="182879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95FA8"/>
                </a:solidFill>
                <a:latin typeface="Arial"/>
              </a:rPr>
              <a:t>Summary record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66744"/>
            <a:ext cx="1828799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16252D"/>
                </a:solidFill>
                <a:latin typeface="Arial"/>
              </a:rPr>
              <a:t>Review the decision and sign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892040"/>
            <a:ext cx="10808208" cy="713232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056632"/>
            <a:ext cx="10442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6252D"/>
                </a:solidFill>
                <a:latin typeface="Arial"/>
              </a:rPr>
              <a:t>Assessment sequence: WA-SAQ first, then Practical Performance; follow the candidate instructions and assessor directions.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TRAQOM · SSG assessment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Open the authorised TRAQOM attendance link or QR code shown in the LMS.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Confirm the assessment event for this course code and session.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Do not share Singpass, LMS, email credentials or one-time passwords.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19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Open the authorised TRAQOM attendance link or QR code shown in the LMS.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008C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Confirm the assessment event for this course code and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5420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5C697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325880" cy="1325880"/>
          </a:xfrm>
          <a:prstGeom prst="roundRect">
            <a:avLst/>
          </a:prstGeom>
          <a:solidFill>
            <a:srgbClr val="F3F7F8"/>
          </a:solidFill>
          <a:ln>
            <a:solidFill>
              <a:srgbClr val="45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395728"/>
            <a:ext cx="1143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508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16252D"/>
                </a:solidFill>
                <a:latin typeface="Arial"/>
              </a:rPr>
              <a:t>Do not share Singpass, LMS, email credentials or one-time passwords.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25880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C83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252D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1018520" cy="18288"/>
          </a:xfrm>
          <a:prstGeom prst="rect">
            <a:avLst/>
          </a:prstGeom>
          <a:solidFill>
            <a:srgbClr val="D9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TGS-2025053916  ·  Basic Urban Farming with Hydroponics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73952"/>
            <a:ext cx="3840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1908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0">
                <a:solidFill>
                  <a:srgbClr val="5C6970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C6970"/>
                </a:solidFill>
                <a:latin typeface="Arial"/>
              </a:rPr>
              <a:t>139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C83"/>
                </a:solidFill>
                <a:latin typeface="Arial"/>
              </a:rPr>
              <a:t>ANCHOR: control the root zone, verify 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074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Observe the whole water–root–canopy loop.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Operate to SOP and stop when controls are missing.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6252D"/>
                </a:solidFill>
                <a:latin typeface="Arial"/>
              </a:rPr>
              <a:t>•  Use measurements and records to improve the next crop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90195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01952"/>
            <a:ext cx="82296" cy="1024128"/>
          </a:xfrm>
          <a:prstGeom prst="rect">
            <a:avLst/>
          </a:prstGeom>
          <a:solidFill>
            <a:srgbClr val="19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95FA8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9397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Observe · whole · water–root–canopy ·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2783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27832"/>
            <a:ext cx="82296" cy="1024128"/>
          </a:xfrm>
          <a:prstGeom prst="rect">
            <a:avLst/>
          </a:prstGeom>
          <a:solidFill>
            <a:srgbClr val="008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5584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C8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1985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Operate · stop · when · controls ·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53712"/>
            <a:ext cx="5120640" cy="1024128"/>
          </a:xfrm>
          <a:prstGeom prst="roundRect">
            <a:avLst/>
          </a:prstGeom>
          <a:solidFill>
            <a:srgbClr val="F3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553712"/>
            <a:ext cx="82296" cy="1024128"/>
          </a:xfrm>
          <a:prstGeom prst="rect">
            <a:avLst/>
          </a:prstGeom>
          <a:solidFill>
            <a:srgbClr val="45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681728"/>
            <a:ext cx="411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458B36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45736"/>
            <a:ext cx="4114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252D"/>
                </a:solidFill>
                <a:latin typeface="Arial"/>
              </a:rPr>
              <a:t>measurements · records · improve · next · crop · cycle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