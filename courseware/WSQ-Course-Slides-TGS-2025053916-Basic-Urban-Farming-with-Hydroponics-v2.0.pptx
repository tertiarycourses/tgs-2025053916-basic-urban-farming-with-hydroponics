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rcRect l="46000" r="3851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lms-tms.tertiaryinfotech.com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lms-tms.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only the provider's authorised attendance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share Singpass, LMS or email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only the provider's authorised attendance channel.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Never share Singpass, LMS or email one-time passwords.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Perform hydroponic operations to SOP; apply WSH, food-safety, cleaning and maintenance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K1–K4 equipment, SOP, GAP/WSH, maintenance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A1–A4 prepare, operate, comply, clean/maintain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K1–K4 · equipment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A1–A4 · prepare · operate · comply · clean/maintain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Today's operating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Morning theory → lunch → farm tour → kit practice → aquaponics theory →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Farm tour and kit practice use checklist PDFs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1 hour assessment: WA-SAQ then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tour · practice · checklist · PDFs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hour · assessment · WA-SAQ · then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requires both knowledge and performance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4 open-ended questions, 30 min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PP: one practical task covering A1–A4, 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open-ended ·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task · covering · A1–A4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ocal-course-ec-meter.jpg"/>
          <p:cNvPicPr>
            <a:picLocks noChangeAspect="1"/>
          </p:cNvPicPr>
          <p:nvPr/>
        </p:nvPicPr>
        <p:blipFill>
          <a:blip r:embed="rId2"/>
          <a:srcRect l="12455" r="12455"/>
          <a:stretch>
            <a:fillRect/>
          </a:stretch>
        </p:blipFill>
        <p:spPr>
          <a:xfrm>
            <a:off x="6144768" y="1847088"/>
            <a:ext cx="224028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1344" y="587959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course photo · EC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14232" y="1865376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14232" y="1865376"/>
            <a:ext cx="91440" cy="8229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2048256"/>
            <a:ext cx="438912" cy="438912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204825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984248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95FA8"/>
                </a:solidFill>
                <a:latin typeface="Arial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26771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top-up water + nutrients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852928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4232" y="2852928"/>
            <a:ext cx="91440" cy="8229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06256" y="3035808"/>
            <a:ext cx="438912" cy="438912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6" y="303580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2971800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58B36"/>
                </a:solidFill>
                <a:latin typeface="Arial"/>
              </a:rPr>
              <a:t>PLANT UPTAKE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3255264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water + selective 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840480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14232" y="3840480"/>
            <a:ext cx="91440" cy="8229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06256" y="4023360"/>
            <a:ext cx="438912" cy="438912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06256" y="402336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959352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E28A13"/>
                </a:solidFill>
                <a:latin typeface="Arial"/>
              </a:rPr>
              <a:t>DISCHARGE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1472" y="4242816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drain + sampling losses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14232" y="4828032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4232" y="4828032"/>
            <a:ext cx="91440" cy="8229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06256" y="5010912"/>
            <a:ext cx="438912" cy="438912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06256" y="501091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91472" y="4946904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RESERVOIR 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1472" y="5230368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volume + ion profile + 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85216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>
                <a:solidFill>
                  <a:srgbClr val="5C6970"/>
                </a:solidFill>
                <a:latin typeface="Arial"/>
              </a:rPr>
              <a:t>Measure trend ≠ diagnose composition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ocal-blog-protected-crop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crop water-demand context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rcRect r="63000"/>
          <a:stretch>
            <a:fillRect/>
          </a:stretch>
        </p:blipFill>
        <p:spPr>
          <a:xfrm>
            <a:off x="6144768" y="1847088"/>
            <a:ext cx="2468880" cy="3337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4476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5321808"/>
            <a:ext cx="82296" cy="5669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58B36"/>
                </a:solidFill>
                <a:latin typeface="Arial"/>
              </a:rPr>
              <a:t>HEALTHY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light-coloured · firm · branching</a:t>
            </a:r>
          </a:p>
        </p:txBody>
      </p:sp>
      <p:pic>
        <p:nvPicPr>
          <p:cNvPr id="18" name="Picture 17" descr="root-zone-diagnosis-v1.png"/>
          <p:cNvPicPr>
            <a:picLocks noChangeAspect="1"/>
          </p:cNvPicPr>
          <p:nvPr/>
        </p:nvPicPr>
        <p:blipFill>
          <a:blip r:embed="rId2"/>
          <a:srcRect l="65000"/>
          <a:stretch>
            <a:fillRect/>
          </a:stretch>
        </p:blipFill>
        <p:spPr>
          <a:xfrm>
            <a:off x="8796528" y="1847088"/>
            <a:ext cx="2468880" cy="33375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9652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96528" y="5321808"/>
            <a:ext cx="82296" cy="566928"/>
          </a:xfrm>
          <a:prstGeom prst="rect">
            <a:avLst/>
          </a:prstGeom>
          <a:solidFill>
            <a:srgbClr val="B8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7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B83B3B"/>
                </a:solidFill>
                <a:latin typeface="Arial"/>
              </a:rPr>
              <a:t>RAPID INVESTIGATION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brown · slimy · off-odour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97103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Photorealistic root-zone comparison generated for this course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ocal-blog-hydroponic-channel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hydroponics (illustrative; not ComCrop)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pic>
        <p:nvPicPr>
          <p:cNvPr id="12" name="Picture 11" descr="84620435_2820560564646593_6637451830857039872_n.jpg"/>
          <p:cNvPicPr>
            <a:picLocks noChangeAspect="1"/>
          </p:cNvPicPr>
          <p:nvPr/>
        </p:nvPicPr>
        <p:blipFill>
          <a:blip r:embed="rId2"/>
          <a:srcRect t="25238" b="25238"/>
          <a:stretch>
            <a:fillRect/>
          </a:stretch>
        </p:blipFill>
        <p:spPr>
          <a:xfrm>
            <a:off x="6144768" y="1847088"/>
            <a:ext cx="5120640" cy="19019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44768" y="3749039"/>
            <a:ext cx="5120640" cy="292608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3794760"/>
            <a:ext cx="4828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8C83"/>
                </a:solidFill>
                <a:latin typeface="Arial"/>
              </a:rPr>
              <a:t>OBSERVE · crop condition, spatial patterns and controls</a:t>
            </a:r>
          </a:p>
        </p:txBody>
      </p:sp>
      <p:pic>
        <p:nvPicPr>
          <p:cNvPr id="15" name="Picture 14" descr="86280825_2820560187979964_3816450489743048704_n.jpg"/>
          <p:cNvPicPr>
            <a:picLocks noChangeAspect="1"/>
          </p:cNvPicPr>
          <p:nvPr/>
        </p:nvPicPr>
        <p:blipFill>
          <a:blip r:embed="rId3"/>
          <a:srcRect t="29044" b="29044"/>
          <a:stretch>
            <a:fillRect/>
          </a:stretch>
        </p:blipFill>
        <p:spPr>
          <a:xfrm>
            <a:off x="6144768" y="4142232"/>
            <a:ext cx="2487168" cy="1389888"/>
          </a:xfrm>
          <a:prstGeom prst="rect">
            <a:avLst/>
          </a:prstGeom>
        </p:spPr>
      </p:pic>
      <p:pic>
        <p:nvPicPr>
          <p:cNvPr id="16" name="Picture 15" descr="86378079_2820561377979845_6990086092015796224_n.jpg"/>
          <p:cNvPicPr>
            <a:picLocks noChangeAspect="1"/>
          </p:cNvPicPr>
          <p:nvPr/>
        </p:nvPicPr>
        <p:blipFill>
          <a:blip r:embed="rId4"/>
          <a:srcRect t="12745" b="12745"/>
          <a:stretch>
            <a:fillRect/>
          </a:stretch>
        </p:blipFill>
        <p:spPr>
          <a:xfrm>
            <a:off x="8778240" y="4142232"/>
            <a:ext cx="2487168" cy="138988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144768" y="5532120"/>
            <a:ext cx="2487168" cy="274320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5532120"/>
            <a:ext cx="2487168" cy="274320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568696"/>
            <a:ext cx="22494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195FA8"/>
                </a:solidFill>
                <a:latin typeface="Arial"/>
              </a:rPr>
              <a:t>ASK · verify the operator explanation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5568696"/>
            <a:ext cx="22494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458B36"/>
                </a:solidFill>
                <a:latin typeface="Arial"/>
              </a:rPr>
              <a:t>RECORD · location, time and 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87959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Tertiary Infotech farm tours · blog archive, 15 Feb 2020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local-blog-return-plumbing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channel ends and return plumbing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+ PP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the candidate instructions before responding.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equipment and evidence checklist specified by the assessor.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Competent / Not Yet Competent decisions follow the approved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the candidate instructions before responding.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equipment and evidence checklist specified by the assessor.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Competent / Not Yet Competent decisions follow the approved criteria.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and appeal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attempt → assessor decision → feedback → reassessment/appeal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for clarification only on instructions, not model answers.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Sign the acknowledgement after feedback.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the provider's documented appeal route where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Ask for clarification only on instructions, not model answers.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Sign the acknowledgement after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Follow the provider's documented appeal route where needed.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and TRAQOM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attendance + feedback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attendance using the provider's authorised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login or Singpass credentials.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course feedback after the assessment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attendance · using · provider's · authorised ·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login · Singpass ·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course · feedback · after · assessment · process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