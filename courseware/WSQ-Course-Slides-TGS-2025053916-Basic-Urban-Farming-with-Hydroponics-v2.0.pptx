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local output (%)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2035 capacity target (%)</c:v>
                </c:pt>
              </c:strCache>
            </c:strRef>
          </c:tx>
          <c:spPr>
            <a:solidFill>
              <a:srgbClr val="008C83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</c:v>
                </c:pt>
                <c:pt idx="1">
                  <c:v>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percentage-point gap to 2035 target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Fibre</c:v>
                </c:pt>
                <c:pt idx="1">
                  <c:v>Protein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Vegetable farm productivity (t/ha/year)</c:v>
                </c:pt>
              </c:strCache>
            </c:strRef>
          </c:tx>
          <c:spPr>
            <a:solidFill>
              <a:srgbClr val="195FA8"/>
            </a:solidFill>
          </c:spPr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231.4</c:v>
                </c:pt>
                <c:pt idx="1">
                  <c:v>253.3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0"/>
            <a:ext cx="611093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6126480" cy="9144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749808" cy="7498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1600200"/>
            <a:ext cx="4983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95FA8"/>
                </a:solidFill>
                <a:latin typeface="Arial"/>
              </a:rPr>
              <a:t>WSQ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6252D"/>
                </a:solidFill>
                <a:latin typeface="Arial"/>
              </a:rPr>
              <a:t>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22191"/>
            <a:ext cx="4846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5C6970"/>
                </a:solidFill>
                <a:latin typeface="Arial"/>
              </a:rPr>
              <a:t>Course Code: TGS-2025053916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15968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C6970"/>
                </a:solidFill>
                <a:latin typeface="Arial"/>
              </a:rPr>
              <a:t>Version 2.0  ·  29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74920"/>
            <a:ext cx="4937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C6970"/>
                </a:solidFill>
                <a:latin typeface="Arial"/>
              </a:rPr>
              <a:t>Tertiary Infotech Academy Pte Ltd
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62472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Root-zone control • safe operations • Singapore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Your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743200" cy="3474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08760" y="2331720"/>
            <a:ext cx="1371600" cy="1371600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331720"/>
            <a:ext cx="1371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39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GENERAL TRAINER PROFILE · COMPLETE BEFORE DELIVERY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828800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7639" y="1828800"/>
            <a:ext cx="73152" cy="713232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75104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Name and preferred form of address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761488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761488"/>
            <a:ext cx="73152" cy="713232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907792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Relevant urban-farming / hydroponics experience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694176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3694176"/>
            <a:ext cx="73152" cy="713232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840480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Training and Adult Education credentials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4626864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4626864"/>
            <a:ext cx="73152" cy="713232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Site emergency and escalation role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Dr Alfred 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2743200" cy="347472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08760" y="2331720"/>
            <a:ext cx="1371600" cy="1371600"/>
          </a:xfrm>
          <a:prstGeom prst="round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2331720"/>
            <a:ext cx="1371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39"/>
            <a:ext cx="2377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LEAD · TERTIARY INFOTECH ACADEMY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828800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77639" y="1828800"/>
            <a:ext cx="73152" cy="713232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1975104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WSQ trainer and courseware lead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761488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761488"/>
            <a:ext cx="73152" cy="713232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907792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Focus: mechanisms, measurements and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694176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77639" y="3694176"/>
            <a:ext cx="73152" cy="713232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3840480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Ask about system selection and troubleshooting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7639" y="4626864"/>
            <a:ext cx="7178040" cy="713232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4626864"/>
            <a:ext cx="73152" cy="713232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4773168"/>
            <a:ext cx="6446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6252D"/>
                </a:solidFill>
                <a:latin typeface="Arial"/>
              </a:rPr>
              <a:t>Escalation: assessment and course administration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lms-tms.tertiaryinfotech.com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sign in → open enrolled course → download current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lms-tms.tertiaryinfotech.com using your authorised learner account.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Select this enrolled course and open the Course Material panel.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Download the current Learner Guide and Activities; report access errors without sharing credentials.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Open lms-tms.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Select this enrolled course and open the Course Material panel.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Download the current Learner Guide and Activities; report access errors without sharing credentials.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Attendance at 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identity → attendance event → confirmation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only the provider's authorised attendance channel.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the correct course code and session before submitting.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Never share Singpass, LMS or email one-time passwords.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only the provider's authorised attendance channel.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Confirm the correct course code and session before submitting.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Never share Singpass, LMS or email one-time passwords.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Practice Exam / Knowledge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exams.tertiaryinfotech.com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course WA-SAQ + observed PP are the assessed instruments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This is a non-certification WSQ course; revision centres on K1–K4 and A1–A4.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trainer-provided hydroponics knowledge check and both activity evidence sheets.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Optional Tertiary practice portal: https://exams.tertiaryinfotech.com/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This · non-certification · course · revision · centres · K1–K4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trainer-provided · hydroponics · knowledge · check · both · activity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Optional · Tertiary · practice · portal · https://exams.tertiaryinfotech.com/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Course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Perform hydroponic operations to SOP; apply WSH, food-safety, cleaning and maintenance controls.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K1–K4 equipment, SOP, GAP/WSH, maintenance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A1–A4 prepare, operate, comply, clean/maintain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K1–K4 · equipment · GAP/WSH · maintenance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A1–A4 · prepare · operate · comply · clean/maintain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Today's operating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Morning theory → lunch → farm tour → kit practice → aquaponics theory → assessment.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Farm tour and kit practice use checklist PDFs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1 hour assessment: WA-SAQ then 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Farm · tour · practice · checklist · PDFs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hour · assessment · WA-SAQ · then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Competence requires both knowledge and performance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WA-SAQ: 4 open-ended questions, 30 min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PP: one practical task covering A1–A4, 30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WA-SAQ · open-ended · questions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practical · task · covering · A1–A4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Safety stop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Stop and notify the trainer when a condition is unsafe or uncontrolled.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Damaged electrical equipment or water near unprotected power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Unknown chemical, missing label/SDS/PPE, unstable structure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Damaged · electrical · equipment · water · near · unprotected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Unknown · chemical · missing · label/SDS/PPE · unstable · structure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Measurement conventions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Record value, unit, time, instrument and 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is unitless; EC uses mS/cm or µS/cm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Temperature and calibration status support interpretation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unitless · uses · mS/cm · µS/cm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Temperature · calibration · status · support · interpretation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How water, oxygen, ions and plant demand interact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Hydroponics is a controlled root-zone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+ oxygen + ions +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obtain mineral ions from a measured nutrient solution, not from soil particles.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grower must replace soil's buffering, aeration, anchorage and microbial functions.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healthy crop is the output of a balanced root-zone control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Roots obtain mineral ions from a measured nutrient solution, not from soil particles.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grower must replace soil's buffering, aeration, anchorage and microbial functions.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healthy crop is the output of a balanced root-zone control loop.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four root-zone variables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EC · pH · DO ·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EC estimates total dissolved ionic strength; it does not identify each element.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governs nutrient availability and chemical stability.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Dissolved oxygen and solution temperature shape respiration and root disease risk.</a:t>
            </a:r>
          </a:p>
        </p:txBody>
      </p:sp>
      <p:pic>
        <p:nvPicPr>
          <p:cNvPr id="13" name="Picture 12" descr="legacy-slide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Mass balance explains reservoir drift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inputs − plant uptake − discharge =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Water loss through transpiration can raise EC even when no fertiliser is added.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Selective ion uptake means a stable EC can still hide nutrient imbalance.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Top-up, correction and periodic replacement are different control actions.</a:t>
            </a:r>
          </a:p>
        </p:txBody>
      </p:sp>
      <p:pic>
        <p:nvPicPr>
          <p:cNvPr id="13" name="Picture 12" descr="legacy-slide-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 respiration sets an oxygen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extension.illinois.edu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warm water holds less dissolved O₂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consume oxygen to release energy for active ion transport.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Stagnant warm solution increases hypoxia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Aeration, return-flow turbulence and lower heat load improve the oxygen margin.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Roots consume oxygen to release energy for active ion transport.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Stagnant warm solution increases hypoxia risk.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Aeration, return-flow turbulence and lower heat load improve the oxygen margin.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Capillary and film flow are not interchangeable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depth changes air-filled porosity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thin nutrient film preserves a moist, oxygen-rich root surface.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Deep flooding provides thermal mass but needs active aeration.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Media pores can wick water while maintaining structural support.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thin · nutrient · film · preserves · moist · oxygen-rich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Deep · flooding · provides · thermal · mass · needs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Media · pores · wick · water · while · maintaining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Plant water moves down a potential gradient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 uptake → xylem → stomata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Light, heat, humidity and airflow change transpiration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must supply water fast enough to maintain cell turgor.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Wilting can occur despite a full reservoir when roots are hypoxic or diseased.</a:t>
            </a:r>
          </a:p>
        </p:txBody>
      </p:sp>
      <p:pic>
        <p:nvPicPr>
          <p:cNvPr id="13" name="Picture 12" descr="legacy-slide-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Nutrient ions are not plant food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photosynthesis supplies carbon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Plants build carbohydrates from CO₂ and water using light energy.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Mineral ions enable enzymes, structure and osmotic regulation.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More fertiliser cannot compensate for inadequate light or damaged roots.</a:t>
            </a:r>
          </a:p>
        </p:txBody>
      </p:sp>
      <p:pic>
        <p:nvPicPr>
          <p:cNvPr id="13" name="Picture 12" descr="legacy-slide-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Soil-free does not mean risk-free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one reservoir can connect every plant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Recirculation conserves water but can spread a waterborne pathogen rapidly.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Shared chemistry means one dosing error affects the whole crop.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Monitoring and sanitation are system controls, not optional housekeeping.</a:t>
            </a:r>
          </a:p>
        </p:txBody>
      </p:sp>
      <p:pic>
        <p:nvPicPr>
          <p:cNvPr id="13" name="Picture 12" descr="legacy-slide-0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55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production loop is observable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setpoint → measure → compare → act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Define an acceptable band before taking a measurement.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a calibrated instrument and a representative sample.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the correction and confirm the value after mixing.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Define an acceptable band before taking a measurement.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a calibrated instrument and a representative sample.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Record the correction and confirm the value after mixing.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Evidence distinguishes control from guesswork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time-stamped log + calibration + crop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single reading without time, unit and instrument has weak evidential value.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Trend data reveals drift before visible symptoms appear.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Crop photographs should show both canopy and roots, not leaves alone.</a:t>
            </a:r>
          </a:p>
        </p:txBody>
      </p:sp>
      <p:pic>
        <p:nvPicPr>
          <p:cNvPr id="13" name="Picture 12" descr="legacy-slide-0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Select and diagnose flow, support and failure tolerance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Nutrient Film Technique (NFT)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shallow recirculating film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Channel slope and flow continuity are critical; loss of pumping exposes roots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Deep Water Culture (DWC)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roots suspended in aerated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Air delivery and raft hygiene govern root oxygen and disease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80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Kratky passive culture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static reservoir + deliberate air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growing air gap supplies oxygen; refilling to the original brim can drown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87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Ebb-and-flow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timed flood and drain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Flood duration wets media; complete drainage restores air-filled porosity.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91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Drip hydroponics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emitter uniformity + drainage fraction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Emitter blockage and uneven pressure create plant-to-plant variability.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5120640" cy="3977639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008C83"/>
                </a:solidFill>
                <a:latin typeface="Arial"/>
              </a:rPr>
              <a:t>emitter uniformity + drainage fraction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Aeroponics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mist droplet delivery to bare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Fine delivery raises oxygen exposure but creates high sensitivity to nozzle or pump failure.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Fine delivery raises oxygen exposure but creates high sensitivity to nozzle or pump failure.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Best fit depends on crop mass, root volume, failure tolerance and operator capability.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Acceptance evidence: even wetting, unobstructed return and healthy white/cream roots.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Wick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passive capillary 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Low complexity suits small plants; transport rate limits high-demand crops.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pic>
        <p:nvPicPr>
          <p:cNvPr id="13" name="Picture 12" descr="legacy-slide-1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Dutch bucket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individual media containers + common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Isolation aids crop support, while a common return retains shared-solution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Best fit depends on crop mass, root volume, failure tolerance and operator capability.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Acceptance evidence: even wetting, unobstructed return and healthy white/cream roots.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74519"/>
            <a:ext cx="5120640" cy="3977639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4297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>
                <a:solidFill>
                  <a:srgbClr val="008C83"/>
                </a:solidFill>
                <a:latin typeface="Arial"/>
              </a:rPr>
              <a:t>individual media containers + common return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System selection is a constraint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crop × site × utilities × operator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Fast leafy greens tolerate different support and cycle times from fruiting crops.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rooftop site adds heat, wind, loading and access constraints.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simplest system that reliably meets the production target is often the best choice.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Fast · leafy · greens · tolerate · different ·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rooftop · site · adds · heat · wind · loading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simplest · system · that · reliably · meets · production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Open and recirculating loops trade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discharge loss versus shared-reservoir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Open drain-to-waste operation simplifies chemistry but loses water and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Recirculation improves resource efficiency and demands stronger monitoring and hygiene.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Local discharge rules and nutrient recovery should be considered in the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Open · drain-to-waste · operation · simplifies · chemistry · loses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Recirculation · improves · resource · efficiency · demands · stronger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Local · discharge · rules · nutrient · recovery · should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Pump duty must include static and friction head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duty point = flow at total dynamic 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pump's maximum flow is measured near zero head and is not the operating flow.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Long narrow tubing, elbows and elevation add resistance.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delivered channel flow instead of relying on the box label.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pump's · maximum · flow · measured · near · zero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Long · narrow · tubing · elbows · elevation · resistance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delivered · channel · flow · instead · relying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Return design protects against overflow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inlet flow ≤ unobstructed drain capacity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Roots, media and biofilm reduce drainage capacity over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freeboard and emergency overflow limit water damage.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Power-off testing reveals siphon and reservoir-capacity hazards.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Roots · media · biofilm · reduce · drainage · capacity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freeboard · emergency · overflow · limit · water · damage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Power-off · testing · reveals · siphon · reservoir-capacity · hazards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Redundancy is proportional to crop loss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failure detection time × root drying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NFT may require rapid alarm response because exposed roots dry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DWC carries more water reserve but depends on aeration.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Spare pumps, independent air and tested response actions reduce consequence.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require · rapid · alarm · response · because · exposed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carries · more · water · reserve · depends · aeration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Spare · pumps · independent · tested · response · actions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Media properties drive irrigation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air-filled porosity · water holding · stability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Coco coir holds water but requires controlled salt management.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Perlite increases aeration with low mass and low buffering.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Rockwool is uniform but demands careful wetness control and disposal planning.</a:t>
            </a:r>
          </a:p>
        </p:txBody>
      </p:sp>
      <p:pic>
        <p:nvPicPr>
          <p:cNvPr id="13" name="Picture 12" descr="legacy-slide-1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121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Food-contact materials need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compatible plastics + cleanable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Avoid unknown reused containers that may have held chemicals.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Opaque reservoirs suppress light-driven algae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Smooth accessible surfaces make cleaning and inspection more reliable.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Avoid · unknown · reused · containers · that · have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Opaque · reservoirs · suppress · light-driven · algae · growth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Smooth · accessible · surfaces · make · cleaning · inspection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system diagram is an operating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reservoir → pump → crop →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Mark flow direction, valves, sampling point and drain route.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single points of failure and overflow paths.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diagram supports training, troubleshooting and maintenance isolation.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Mark flow direction, valves, sampling point and drain route.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Identify single points of failure and overflow paths.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diagram supports training, troubleshooting and maintenance isolation.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Water and nutrients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Measure, mix and correct the root-zone chemistry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Source water sets the starting chemistry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alkalinity differs from 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is the current hydrogen-ion condition; alkalinity resists pH change.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bicarbonate water can drive pH upward after correction.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source EC, pH and where relevant alkalinity before formulating.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current · hydrogen-ion · condition · alkalinity · resists · change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bicarbonate · water · drive · upward · after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source · where · relevant · alkalinity · before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controls chemical availability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leafy-green working band commonly ~5.5–6.5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Outside the operating band, some ions become less available or precipitate.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Adjust in small increments after nutrients are fully mixed.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Crop-specific SOPs override a generic band.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Outside · operating · band · some · ions · become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Adjust · small · increments · after · nutrients · fully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Crop-specific · SOPs · override · generic · band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EC is a proxy, not a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mS/cm or µS/cm at a stated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EC increases with dissolved ions from fertiliser and source water.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Different ion mixtures can produce a similar EC.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supplier formulation and crop response together with EC.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increases · with · dissolved · ions · from · fertiliser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Different · mixtures · produce · similar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supplier · formulation · crop · response · together · with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Temperature compensation has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conductivity changes with temperature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ATC helps standardise meter readings but does not protect warm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solution temperature with pH and EC.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Compare trends at similar times of day where possible.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helps · standardise · meter · readings · does · protect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solution · temperature · with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Compare · trends · similar · times · where · possible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Two-part nutrients prevent concentrate reactions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keep calcium separate from concentrated sulfate/phosphate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Mix Part A into water before Part B; never combine concentrates directly.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Allow circulation between additions.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Precipitate removes nutrients from solution and can block emitters.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Mix Part A into water before Part B; never combine concentrates 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Allow circulation between additions.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Precipitate removes nutrients from solution and can block emitters.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Macronutrients build structure and metabolism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 · P · K · Ca · Mg ·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Nitrogen supports proteins and chlorophyll; imbalance can drive weak lush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Potassium regulates water balance and enzyme activity.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Calcium depends strongly on transport to new tissue.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Nitrogen · supports · proteins · chlorophyll · imbalance · drive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Potassium · regulates · water · balance · enzyme · activity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Calcium · depends · strongly · transport · tissue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Micronutrients operate at small concentrations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Fe · Mn · B · Zn · Cu · Mo · Cl · 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Trace requirement does not mean optional.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micronutrients can become toxic quickly.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 and chelation influence iron availability.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Trace · requirement · does · mean · optional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micronutrients · become · toxic · quickly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chelation · influence · iron · availability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Symptoms are patterns, not diagnoses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old versus new growth + distribution + roots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Mobile-element shortages often appear first on older leaves.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Immobile-element disorders often affect new growth.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root health, pH, EC and recent operations before correcting nutrients.</a:t>
            </a:r>
          </a:p>
        </p:txBody>
      </p:sp>
      <p:pic>
        <p:nvPicPr>
          <p:cNvPr id="13" name="Picture 12" descr="legacy-slide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133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Tip burn can occur with calcium present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calcium transport follows transpiration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Fast inner-leaf growth, high humidity and weak airflow can limit local calcium delivery.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Raising EC blindly may worsen water uptake.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Control growth rate, air movement and root conditions.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Fast · inner-leaf · growth · high · humidity ·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Raising · blindly · worsen · water · uptake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Control · growth · rate · movement · root · conditions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Iron chlorosis needs differential diagnosis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interveinal yellowing on young leaves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root-zone pH can reduce iron availability.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 damage and cold/wet stress can mimic nutrient shortage.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the limiting condition before adding more concentrate.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root-zone · reduce · iron · availability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 · damage · cold/wet · stress · mimic · nutrient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 · limiting · condition · before · adding · more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Dilution calculation prevents overdosing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C₁V₁ = C₂V₂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consistent units and confirm the concentrate label.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Estimate conservatively, mix, measure, then trim.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Wear required PPE and keep acids/bases labelled and segregated.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consistent · units · confirm · concentrate ·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Estimate · conservatively · measure · then · trim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Wear · required · keep · acids/bases · labelled · segregated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Top-up strategy depends on both water and 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reservoir level + EC trend + crop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Falling level with rising EC suggests water is leaving faster than 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Falling level with falling EC suggests strong nutrient uptake or dilution history.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Periodic replacement resets selective-ion drift and accumulated residues.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Falling · level · with · rising · suggests · water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Falling · level · with · falling · suggests · strong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Periodic · replacement · resets · selective-ion · drift · accumulated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Meter calibration is part of the measurement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known standard → rinse → calibrate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fresh, unexpired standards appropriate to the meter.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pour used standard back into its bottle.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calibration date, standard value and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fresh · unexpired · standards · appropriate · meter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pour · used · standard · back · into · bottle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calibration · date · standard · value · result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Sampling location changes the reading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representative, mixed, bubble-free 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dosing point can read very differently before complete mixing.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Rinse the cup and probe with sample solution.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Consistent sampling improves trend comparability.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dosing · point · read · very · differently · before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Rinse · probe · with · sample · solution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Consistent · sampling · improves · trend · comparability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correction is a controlled chemical task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small dose + circulation + remeasurement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Concentrated acid or alkali can burn skin and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Add chemical to water as specified; never improvise mixing order.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Stop if the label, SDS, PPE or correct dosing tool is unavailable.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Concentrated · acid · alkali · burn · skin · roots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chemical · water · specified · never · improvise · mixing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Stop · label · correct · dosing · tool · unavailable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Reservoir sizing buffers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extension.unr.edu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litres per plant and refill frequency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larger volume changes temperature and EC more slowly.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volume adds weight and cleaning burden.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Keep enough free capacity for return water during power-off tests.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larger · volume · changes · temperature · more · slowly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volume · adds · weight · cleaning · burden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Keep · enough · free · capacity · return · water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Light exclusion is an algae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photons + nutrients + wet surface = algae 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Cover reservoirs and unused planting holes.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Algae competes for oxygen, blocks flow and creates slippery surfaces.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Clean the root cause rather than relying only on chemical treatment.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Cover · reservoirs · unused · planting · holes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Algae · competes · oxygen · blocks · flow · creates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root · cause · rather · than · relying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WATER AND NUTRIENTS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Biofilm changes hydraulics and hygiene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surface attachment + organic load +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Biofilm can harbour organisms and narrow emitters or channels.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Inspection targets junctions, dead legs and rough surfaces.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Cleaning must include physical removal, validated chemistry and rinsing.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Biofilm · harbour · organisms · narrow · emitters · channels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Inspection · targets · junctions · dead · legs · 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Cleaning · must · include · physical · removal · validated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Crop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Control nursery, environment, hygiene and crop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Crop choice must fit the system envelope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rhs.org.uk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cycle time · canopy · root volume ·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Leafy greens suit short cycles and modest structural support.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Fruiting crops need longer occupancy, pollination and trellising.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Marketable yield, not plant count, is the production measure.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Leafy · greens · suit · short · cycles · modest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Fruiting · crops · need · longer · occupancy · pollination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Marketable · yield · plant · count · production · measure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Seed quality affects the whole batch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extension.illinois.edu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germination % and uniform emergence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cultivar, lot and sowing date.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 plugs create more even transplant and harvest timing.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Separate non-germination from later seedling mortality.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cultivar · sowing · 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 · plugs · create · more · even · transplant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Separate · non-germination · from · later · seedling · mortality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Nursery moisture balances water and oxygen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saturated is not synonymous with healthy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Overwet media reduces aeration and encourages disease.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Drying interrupts germination and damages fine roots.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clean water delivery and defined transplant acceptance criteria.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Overwet · media · reduces · aeration · encourages · disease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Drying · interrupts · germination · damages · fine · roots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water · delivery · defined · transplant · acceptance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Transplant timing is a root-and-canopy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established roots + true leaves + intact plug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Overgrown seedlings suffer root binding and transition stress.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Weak seedlings create permanent variability in channel performance.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Reject diseased or mechanically damaged plugs.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Overgrown · seedlings · suffer · root · binding · transition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Weak · seedlings · create · permanent · variability · channel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Reject · diseased · mechanically · damaged · plugs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Light quantity is measured as photons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PPFD (µmol·m⁻²·s⁻¹) and DLI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PPFD describes instantaneous photosynthetic photon flux density.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DLI integrates PPFD over the photoperiod.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Uniformity matters because the lowest-light positions limit consistent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PPFD · describes · instantaneous · photosynthetic · photon · flux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integrates · PPFD · over · photoperiod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Uniformity · matters · because · lowest-light · positions · limit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Daily Light Integral links intensity and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DLI = PPFD × seconds ÷ 1,000,000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Longer photoperiod can partly compensate for lower intensity within crop limits.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More photons can raise cooling and electricity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at canopy height across the growing area.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Longer · photoperiod · partly · compensate · lower · intensity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More · photons · raise · cooling · electricity · demand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canopy · height · across · growing · area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Air temperature and humidity shape demand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vapour-pressure deficit (VPD)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low evaporative demand can reduce nutrient transport to fast-growing tissue.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high demand can exceed root water supply and close stomata.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crop response with environmental trends, not temperature alone.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evaporative · demand · reduce · nutrient · transport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high · demand · exceed · root · water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crop · response · with · environmental · trends · temperature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Airflow is a boundary-layer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leaf movement without mechanical stress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Gentle circulation supports gas exchange and canopy uniformity.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Dead zones retain humidity and favour disease.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Excess wind raises water demand and causes abrasion.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Gentle · circulation · supports · exchange · canopy · uniformity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Dead · zones · retain · humidity · favour · disease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Excess · wind · raises · water · demand · causes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Integrated pest management starts with exclusion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prevent → monitor → identify → intervene →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Screen openings and inspect incoming plants/materials.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sticky cards and crop scouting to detect change.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Choose interventions that are lawful, label-compliant and compatible with harvest.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Screen openings and inspect incoming plants/materials.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sticky cards and crop scouting to detect change.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Choose interventions that are lawful, label-compliant and compatible with harvest.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Sticky cards are trend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standard location + interval +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Card colour and placement affect which flying pests are captured.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Counts are comparable only with a consistent method.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trap result must be paired with crop inspection and correct identification.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Card · colour · placement · affect · which · flying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Counts · comparable · only · with · consistent · method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trap · result · must · paired · with · crop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 inspection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colour · odour · firmness · branching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Healthy roots are generally light-coloured and firm, with crop-dependent variation.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Brown slimy roots and off-odour require rapid investigation.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 the least vigorous plants and the return end, not only the best canopy.</a:t>
            </a:r>
          </a:p>
        </p:txBody>
      </p:sp>
      <p:pic>
        <p:nvPicPr>
          <p:cNvPr id="13" name="Picture 12" descr="legacy-slide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133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Harvest hygiene protects ready-to-eat produce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clean hands/tools + cleanable surfaces + lot traceability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Separate dirty maintenance tools from harvest equipment.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Remove damaged or contaminated produce from the marketable lot.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harvest date, crop/lot, quantity and responsible operator.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Separate · dirty · maintenance · tools · from · harvest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Remove · damaged · contaminated · produce · from · marketable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harvest · date · crop/lot · quantity · responsible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Housekeeping controls slips and contamination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dry walkways + contained chemicals + clear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Leaks are production deviations and safety hazards.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Electrical connections need dry, protected routing.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Emergency access, labels and SDS must remain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Leaks · production · deviations · safety · hazards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Electrical · connections · need · protected · routing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Emergency · access · labels · must · remain · visible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Cleaning is not the same as disinfection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soil removal precedes disinfectant 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Organic residue shields organisms and consumes disinfectant.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concentration, contact time and material compatibility are required.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Rinsing and drying requirements follow the product label/SOP.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Organic · residue · shields · organisms · consumes · disinfectant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 · concentration · contact · time · material · compatibility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Rinsing · drying · requirements · follow · product · label/SOP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CROP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Maintenance preserves control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inspect → clean → replace → function-test →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Pumps, air stones, tubing, filters, probes and timers have different failure modes.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spare part is useful only if compatible and accessible.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Return equipment to service only after a functional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Pumps, air stones, tubing, filters, probes and timers have different failure modes.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spare part is useful only if compatible and accessible.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Return equipment to service only after a functional verification.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Singapore hydroponics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Current policy, farms, productivity and technology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Singapore Food Story 2 resets the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mse.gov.sg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2035 capacity targets—20% fibre, 30% protein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current policy focuses on resilient production capacity and commercial viability.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Previous national framing has been superseded by the current 2035 capacity targets.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contributes mainly to the fibre category through vegetables.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2025 output shows the remaining fibre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about 8% fibre and 25% protein in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Local output is only one layer of Singapore's food-resilience strategy.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Productivity, demand, import diversification and stockpiling interact.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technical system must still produce saleable crops at viable cost.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Vegetable productivity rose in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231.4 → 253.3 tonnes/ha/year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reported roughly a 10% increase in farm productivity.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Area-normalised output supports comparison but does not reveal energy or cost.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Pair yield with grade-out, input use, labour and downtime.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126480" y="1828800"/>
          <a:ext cx="52120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ComCrop demonstrates rooftop hybrid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rooftop hydroponics + sunlight + supplemental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describes ComCrop as Singapore's first commercial rooftop farm, established in 2011.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Sensors support monitoring of water, light and nutrient conditions.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Manual transplanting, harvesting and cleaning remain important operations.</a:t>
            </a:r>
          </a:p>
        </p:txBody>
      </p:sp>
      <p:pic>
        <p:nvPicPr>
          <p:cNvPr id="13" name="Picture 12" descr="legacy-slide-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Legacy visual reused from original slide 46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Sustenir compresses production into controlled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NFT + vertical layers + controlled environment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describes recirculating NFT with temperature, humidity and CO₂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farm page reports 3.2 tonnes of lettuce from 54 m² and over 90 tonnes/year.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Treat site figures as reported case data, not universal performance.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describes · recirculating · with · temperature · humidity ·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farm · page · reports · tonnes · lettuce · from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Treat · site · figures · reported · case · data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Singrow targets temperate crops in the tropics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enterprise.nus.edu.sg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cultivar + climate control +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NUS Enterprise case describes proprietary hydroponic strawberries.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Computer vision, robotics and crop genetics form one production system.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Higher-value crops may justify complexity that leafy greens cannot.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Enterprise · case · describes · proprietary · hydroponic · strawberries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Computer · vision · robotics · crop · genetics · 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Higher-value · crops · justify · complexity · that · leafy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Greenphyto signals a scale-and-automation bet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reported 23 m chambers and up to 2,000 t/year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Business Times reported an S$80 million multi-storey hydroponic facility in January 2026.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report describes automated seeding, dosing, crop movement and climate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Capacity and company claims must be distinguished from verified realised output.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Business · Times · reported · S$80 · million · multi-storey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report · describes · automated · seeding · dosing · crop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Capacity · company · claims · must · distinguished · from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twins turn operations into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sensor state → model → prediction →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digital twin is useful only when sensors are calibrated and the model matches the crop process.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Prediction can support harvest planning, fault detection and energy optimisation.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Human verification remains necessary when biology departs from the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 digital twin is useful only when sensors are calibrated and the model matches the crop process.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Prediction can support harvest planning, fault detection and energy optimisation.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Human verification remains necessary when biology departs from the model.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Automation changes the job, not the biology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businesstimes.com.sg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actuators still depend on trustworthy measurements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Automated dosing magnifies a bad probe or wrong setpoint.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Alarms require ownership, escalation and tested response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Operators need crop observation plus technical troubleshooting skills.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Automated · dosing · magnifies · probe · wrong · setpoint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Alarms · require · ownership · escalation · tested ·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Operators · need · crop · observation · plus · technical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ACT Fund 2 supports capability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new S$70m tranche from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SFA lists capability upgrading, technology adoption and standards pathways.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grant does not remove the need for business and technical feasibility.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Define measurable production and capability outcomes before procurement.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lists · capability · upgrading · technology · adoption · standards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grant · does · remove · need · business · technical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Define · measurable · production · capability · outcomes · before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SG GAP connects production with assurance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food safety + quality + environmental + worker welfare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Good agricultural practice depends on documented, repeatable controls.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Records support traceability and corrective action.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Certification scope and current requirements must be checked with SFA/standards sources.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Good · agricultural · practice · depends · documented · repeatable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Records · support · traceability · corrective · 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Certification · scope · current · requirements · must · checked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Land productivity alone can mislead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yield/m² must be read with kWh, labour, water and grade-out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Vertical stacking can raise output per floor area.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Lighting, cooling, pumping and dehumidification add operating load.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resilient farm optimises the whole system, not a single headline metric.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Vertical · stacking · raise · output · floor · area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Lighting · cooling · pumping · dehumidification · operating · 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resilient · farm · optimises · whole · system · single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Tropical heat is a root-zone design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heat gain → warmer solution → lower oxygen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Shade, insulation, reservoir location and operating time influence heat load.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Cooling can protect crops but adds capital and energy cost.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Measure the actual daily temperature profile before choosing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Shade · insulation · reservoir · location · operating · time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Cooling · protect · crops · adds · capital · energy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 · actual · daily · temperature · profile · before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Farm economics start with marketable yield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revenue = saleable mass × realised price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High biological yield can coexist with poor grade-out or weak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Cycle time and space occupancy affect annual throughput.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Include packaging, logistics, rejects, energy, labour and downtime.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High · biological · yield · coexist · with · poor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Cycle · time · space · occupancy · affect · annual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Include · packaging · logistics · rejects · energy · labour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SINGAPORE HYDROPONICS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Resilience needs more than local farms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mse.gov.sg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local capacity + diversified imports + stockpiles + partnerships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Current Singapore policy uses multiple food-security strategies.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is a targeted production tool, not a universal substitute for imports.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System choice should be matched to crops Singapore can produce competitively.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Current Singapore policy uses multiple food-security strategies.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Hydroponics is a targeted production tool, not a universal substitute for imports.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System choice should be matched to crops Singapore can produce competitively.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Farm tour activity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Observe MEOD Farm using evidence-based checklists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Lunch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Resume at the farm-tour assembly point stated by the 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Observe flow before judging appearance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trace reservoir → delivery → root zone →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the system boundary and where water can leave it.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Locate measurement, dosing, filtration and overflow points.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observations; do not touch equipment without permission.</a:t>
            </a:r>
          </a:p>
        </p:txBody>
      </p:sp>
      <p:pic>
        <p:nvPicPr>
          <p:cNvPr id="12" name="Picture 11" descr="farm-tour-observation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Read the crop as a spatial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inlet/middle/return + upper/lower 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Uniform symptoms suggest a shared input; local symptoms suggest position-specific causes.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Compare canopy colour, size and density across the system.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Photographs require farm permission and must avoid faces or confidential displays.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Uniform · symptoms · suggest · shared · input · local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Compare · canopy · colour · size · density · across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Photographs · require · farm · permission · must · avoid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Audit water and nutrient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instrument + setpoint + frequency +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where and when pH, EC and temperature are measured.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calibration, dosing and corrective-action records.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Distinguish observed evidence from an operator explanation.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where · when · temperature · measured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calibration · dosing · corrective-action · records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Distinguish · observed · evidence · from · operator · explanation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Audit WSH and food-safety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hazard → existing control → residual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wet floors, electrical routing, chemical storage and manual handling.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clean/dirty zoning and harvest-tool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Escalate urgent hazards to the trainer; never intervene in machinery.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floors · electrical · routing · chemical · storage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clean/dirty · zoning · harvest-tool ·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Escalate · urgent · hazards · trainer · never · intervene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Map preventive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asset ID + interval + completion + function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Check pumps, filters, air delivery, sensors, lighting and structural supports.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how failure is detected and who responds.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Look for spare-part readiness and documented return-to-service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Check · pumps · filters · delivery · sensors · lighting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failure · detected · responds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Look · spare-part · readiness · documented · return-to-service · tests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Evaluate pest management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monitoring location + count trend + intervention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Identify exclusion barriers, scouting routines and sticky-card placement.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how pests are identified before treatment.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interventions respect label, food-safety and pre-harvest requirements.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Identify · exclusion · barriers · scouting · routines · sticky-card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pests · identified · before · treatment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Confirm · interventions · respect · label · food-safety · pre-harvest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Separate claim, observation and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C/O/I notation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Claim: what the guide/operator says.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Observation: what you directly see, measure or read.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Inference: your explanation, labelled as provisional until verified.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Claim · what · guide/operator · says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Observation · what · directly · measure · read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Inference · your · explanation · labelled · provisional · until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FARM TOUR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Farm-tour evidence is a checklist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completed PDF + permitted photos + one flow sketch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activity PDF defines the required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concise factual notes with location and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Submit no personal data, trade secrets or unsafe photographs.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activity · defines · required ·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concise · factual · notes · with · location ·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Submit · personal · data · trade · secrets · unsafe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Hydroponics kit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Commission, verify and return a kit to a controlled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Kit readiness is an acceptance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clean · intact · stable · leak-free · electrically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visual inspection occurs before water or power is applied.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Tubing must be secured without kinks and returns must be unobstructed.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Reject damaged cables, unknown containers or unstable structures.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visual · inspection · occurs · before · water · power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Tubing · must · secured · without · kinks · returns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Reject · damaged · cables · unknown · containers · unstable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Flow verification uses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every site wet + return stable + no overflow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the last planting site, not only the first.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Confirm pump noise and vibration are normal for the unit.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timed-volume check can quantify delivered flow where required.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last · planting · site · only ·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Confirm · pump · noise · vibration · normal · unit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timed-volume · check · quantify · delivered · flow · where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baseline precedes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source water pH/EC/temperature recorded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Baseline data separates source-water contribution from added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clean labelled tools to avoid cross-contamination.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Learner Guide contains the detailed sequence and safety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Baseline · data · separates · source-water · contribution · 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clean · labelled · tools · avoid · cross-contamination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Learner · Guide · contains · detailed · sequence · safety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Mixing order protects chemistry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water → A → circulate → B → circulate →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Concentrates must never contact each other directly.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final EC is verified against the activity setpoint supplied by the trainer.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Any deviation is corrected incrementally and recorded.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Concentrates must never contact each other directly.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The final EC is verified against the activity setpoint supplied by the trainer.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Any deviation is corrected incrementally and recorded.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adjustment uses a stop condition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no label/SDS/PPE = no dosing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trainer-provided product and dedicated dosing tool only.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Add small amounts, circulate and remeasure.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Never return excess chemical to the stock container.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trainer-provided · product · dedicated · dosing · tool ·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small · amounts · circulate · remeasure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Never · return · excess · chemical · stock · container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Transplant acceptance protects uniformity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intact plug + healthy root + centred support + stable crown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Roots should contact moisture without burying the crown.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Remove weak or diseased seedlings from the production batch.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 labels preserve cultivar and date traceability.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Roots · should · contact · moisture · without · burying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Remove · weak · diseased · seedlings · from · production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Plant · labels · preserve · cultivar · date · traceability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Power-off behaviour is part of commissioning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no siphon overflow + reservoir contains return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Simulated power loss exposes drainage and restart behaviour.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Restart must restore delivery to every site.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conduct the test where electrical or spill controls are inadequate.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Simulated · power · loss · exposes · drainage · restart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Restart · must · restore · delivery · every · site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conduct · test · where · electrical · spill · controls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 correction log closes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before → action → after → operator →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Record the reason and exact quantity added.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Allow adequate mixing before the after-reading.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Escalate if the value does not respond as expected.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Record · reason · exact · quantity · added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Allow · adequate · mixing · before · after-reading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Escalate · value · does · respond · expected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Root-zone diagnosis starts below the canopy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sfa.gov.sg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roots + flow + temperature + chemistry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Leaf symptoms alone can lead to the wrong correction.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Inspect for obstruction, low aeration, warmth and odour.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Isolate suspect plants and protect the shared reservoir where required by SOP.</a:t>
            </a:r>
          </a:p>
        </p:txBody>
      </p:sp>
      <p:pic>
        <p:nvPicPr>
          <p:cNvPr id="13" name="Picture 12" descr="root-zone-diagnosis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Cleaning returns the kit to a controlled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drain → remove residue → clean → rinse → dry → 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Electrical components are isolated from water.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Disassemble only parts approved by the equipment SOP.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Final evidence shows a dry, complete kit with chemicals secured.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Electrical components are isolated from water.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Disassemble only parts approved by the equipment SOP.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Final evidence shows a dry, complete kit with chemicals secured.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HYDROPONICS KIT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Practice evidence maps to A1–A4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prepare · operate · comply · maintain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A1: materials and equipment ready.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A2: system operates to target with measured evidence.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A3: WSH, food safety and housekeeping controls observed.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A4: cleaning, maintenance check and storage completed.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65960"/>
            <a:ext cx="73152" cy="1508760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A1: materials and equipment ready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9659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23960" y="1965960"/>
            <a:ext cx="73152" cy="150876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21488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2328" y="21305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A2: system operates to target with measured evidence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794760"/>
            <a:ext cx="73152" cy="1508760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A3: WSH, food safety and housekeeping controls observed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23960" y="3794760"/>
            <a:ext cx="2423160" cy="15087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23960" y="3794760"/>
            <a:ext cx="73152" cy="1508760"/>
          </a:xfrm>
          <a:prstGeom prst="rect">
            <a:avLst/>
          </a:prstGeom>
          <a:solidFill>
            <a:srgbClr val="E28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3977640"/>
            <a:ext cx="43891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E28A13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2328" y="3959352"/>
            <a:ext cx="16002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52D"/>
                </a:solidFill>
                <a:latin typeface="Arial"/>
              </a:rPr>
              <a:t>A4: cleaning, maintenance check and storage completed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280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D9E3E6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104241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500" b="1">
                <a:solidFill>
                  <a:srgbClr val="16252D"/>
                </a:solidFill>
                <a:latin typeface="Arial"/>
              </a:rPr>
              <a:t>Aquaponics theory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3611880"/>
            <a:ext cx="2377440" cy="54864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959352"/>
            <a:ext cx="9875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C6970"/>
                </a:solidFill>
                <a:latin typeface="Arial"/>
              </a:rPr>
              <a:t>Balance fish, microbes, plants and water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Aquaponics couples two biological processes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waste → nitrification → plant uptake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Fish produce ammonia-containing waste.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Nitrifying microbes convert ammonia to nitrite and then nitrate.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Plants remove nutrients, while water returns to the culture system.</a:t>
            </a:r>
          </a:p>
        </p:txBody>
      </p:sp>
      <p:pic>
        <p:nvPicPr>
          <p:cNvPr id="12" name="Picture 11" descr="aquaponics-loop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47088"/>
            <a:ext cx="5120640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870448"/>
            <a:ext cx="50749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Visual: generated for this course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The nitrogen cycle has toxic intermediates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NH₃/NH₄⁺ → NO₂⁻ → NO₃⁻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Unionised ammonia toxicity rises with pH and temperature.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Nitrite interferes with oxygen transport in fish.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Nitrate is less acutely toxic but still requires system balance.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Unionised ammonia toxicity rises with pH and temperature.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Nitrite interferes with oxygen transport in fish.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Nitrate is less acutely toxic but still requires system balance.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Three living groups share one water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· microbes · plants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setpoint suitable for plants alone may harm fish or biofilter microbes.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Feeding rate drives nutrient loading and oxygen demand.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Management aims for an acceptable compromise, not a single-species optimum.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setpoint · suitable · plants · alone · harm · fish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Feeding · rate · drives · nutrient · loading · oxygen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Management · aims · acceptable · compromise · single-species · optimum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pH is a compromise variable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health + nitrification + nutrient availability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Nitrification tends to acidify the system over time.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Very high pH can increase toxic unionised ammonia fraction.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Corrections must be gradual and compatible with all organisms.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Nitrification · tends · acidify · system · over ·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Very · high · increase · toxic · unionised · ammonia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Corrections · must · gradual · compatible · with · organisms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650992"/>
            <a:ext cx="4572000" cy="10972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60920" y="5650992"/>
            <a:ext cx="2606040" cy="1097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Dissolved oxygen supports fish, roots and biofilter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three simultaneous oxygen demands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Warm water and high feeding increase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Aeration failure can become an emergency.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Independent air delivery and alarms may be justified by stock value and response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Warm · water · high · feeding · increase · risk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Aeration · failure · become · emergency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Independent · delivery · alarms · justified · stock · value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Solids management precedes mineralisation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settle/filter solids before they foul roots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Uneaten feed and faecal solids consume oxygen during decomposition.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Mechanical separation reduces deposition in plant channels.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Captured nutrients may be mineralised in a controlled process.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Uneaten feed and faecal solids consume oxygen during decomposition.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Mechanical separation reduces deposition in plant channels.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Captured nutrients may be mineralised in a controlled process.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Biofilters need surface area and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attached nitrifiers + oxygenated water + alkalinity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New systems require cycling before full fish loading.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Disinfectants and sudden chemistry changes can damage the microbial community.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Monitor ammonia and nitrite during startup and after disturbances.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systems · require · cycling · before · full · fish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Disinfectants · sudden · chemistry · changes · damage · microbial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Monitor · ammonia · nitrite · during · startup · after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Feeding rate is the nutrient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feed mass/day links fish biomass to plant area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Overfeeding raises waste, oxygen demand and water-quality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Underfeeding limits fish growth and plant nutrients.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species-, feed- and system-specific design guidance.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Overfeeding · raises · waste · oxygen · demand · water-quality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Underfeeding · limits · fish · growth · plant · nutrients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species- · feed- · system-specific · design · guidance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Decoupled aquaponics separates optimisation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controlled transfer between fish and plant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 decoupled design can protect fish from crop-specific corrections.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It adds tanks, controls, monitoring and operating complexity.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The value depends on production goals and operator capability.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decoupled · design · protect · fish · from · crop-specific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adds · tanks · controls · monitoring · operating · complexity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value · depends · production · goals · operator · capability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Biosecurity spans water, animals and plants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quarantine + source control + sanitation +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transfer water, nets or plants between systems without control.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Fish health and food-safety obligations differ from plant-only hydroponics.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Mortality, treatment and water-quality records support investigation.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transfer · water · nets · plants · between ·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Fish · health · food-safety · obligations · differ · from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Mortality · treatment · water-quality · records · support · investigation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Hydroponics and aquaponics solve different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formulated nutrients versus biological nutrient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Hydroponics offers direct nutrient formulation and easier crop isolation.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Aquaponics creates coupled biological value and coupled risk.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Choose based on production objective, market, regulation and operational skill.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Hydroponics · offers · direct · nutrient · formulation · easier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Aquaponics · creates · coupled · biological · value · coupled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Choose · based · production · objective · market · regulation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AQUAPONICS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Aquaponics troubleshooting follows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fish → feed → oxygen → ammonia → biofilter → plant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Start with animal behaviour and critical water quality.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Trace flow and aeration before adding chemicals.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Correct the cause while protecting the most sensitive organism.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Start with animal behaviour and critical water quality.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Trace flow and aeration before adding chemicals.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Correct the cause while protecting the most sensitive organism.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briefing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WA-SAQ 30 min + PP 30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Read the candidate instructions before responding.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the equipment and evidence checklist specified by the assessor.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Competent / Not Yet Competent decisions follow the approved criteria.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Read the candidate instructions before responding.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Use the equipment and evidence checklist specified by the assessor.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Competent / Not Yet Competent decisions follow the approved criteria.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Assessment and appeal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attempt → assessor decision → feedback → reassessment/appeal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Ask for clarification only on instructions, not model answers.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Sign the acknowledgement after feedback.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Follow the provider's documented appeal route where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19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Ask for clarification only on instructions, not model answers.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008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Sign the acknowledgement after feedback.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42032"/>
            <a:ext cx="411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C697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148840"/>
            <a:ext cx="1325880" cy="1325880"/>
          </a:xfrm>
          <a:prstGeom prst="roundRect">
            <a:avLst/>
          </a:prstGeom>
          <a:solidFill>
            <a:srgbClr val="F3F7F8"/>
          </a:solidFill>
          <a:ln>
            <a:solidFill>
              <a:srgbClr val="45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395728"/>
            <a:ext cx="1143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49039"/>
            <a:ext cx="1508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6252D"/>
                </a:solidFill>
                <a:latin typeface="Arial"/>
              </a:rPr>
              <a:t>Follow the provider's documented appeal route where needed.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Digital attendance and TRAQOM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identity + attendance + feedback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Complete attendance using the provider's authorised channel.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Do not share login or Singpass credentials.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Submit course feedback after the assessment process.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Complete · attendance · using · provider's · authorised · channel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share · login · Singpass · credentials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Submit · course · feedback · after · assessment · process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9184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C83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67512"/>
            <a:ext cx="109728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6252D"/>
                </a:solidFill>
                <a:latin typeface="Arial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1018520" cy="18288"/>
          </a:xfrm>
          <a:prstGeom prst="rect">
            <a:avLst/>
          </a:prstGeom>
          <a:solidFill>
            <a:srgbClr val="D9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389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TGS-2025053916  ·  Basic Urban Farming with Hydroponics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73952"/>
            <a:ext cx="3840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6419088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5C6970"/>
                </a:solidFill>
                <a:latin typeface="Arial"/>
              </a:rPr>
              <a:t>Source: tertiarycourses.com.sg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73952"/>
            <a:ext cx="365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5C6970"/>
                </a:solidFill>
                <a:latin typeface="Arial"/>
              </a:rPr>
              <a:t>129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27632"/>
            <a:ext cx="5166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8C83"/>
                </a:solidFill>
                <a:latin typeface="Arial"/>
              </a:rPr>
              <a:t>ANCHOR: control the root zone, verify the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48840"/>
            <a:ext cx="507492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Observe the whole water–root–canopy loop.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Operate to SOP and stop when controls are missing.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6252D"/>
                </a:solidFill>
                <a:latin typeface="Arial"/>
              </a:rPr>
              <a:t>•  Use measurements and records to improve the next crop cycle.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90195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901952"/>
            <a:ext cx="82296" cy="1024128"/>
          </a:xfrm>
          <a:prstGeom prst="rect">
            <a:avLst/>
          </a:prstGeom>
          <a:solidFill>
            <a:srgbClr val="19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95FA8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09397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Observe · whole · water–root–canopy ·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2783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227832"/>
            <a:ext cx="82296" cy="1024128"/>
          </a:xfrm>
          <a:prstGeom prst="rect">
            <a:avLst/>
          </a:prstGeom>
          <a:solidFill>
            <a:srgbClr val="008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35584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008C83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41985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Operate · stop · when · controls · missing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553712"/>
            <a:ext cx="5120640" cy="1024128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553712"/>
            <a:ext cx="82296" cy="1024128"/>
          </a:xfrm>
          <a:prstGeom prst="rect">
            <a:avLst/>
          </a:prstGeom>
          <a:solidFill>
            <a:srgbClr val="45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81728"/>
            <a:ext cx="411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458B36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745736"/>
            <a:ext cx="4114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52D"/>
                </a:solidFill>
                <a:latin typeface="Arial"/>
              </a:rPr>
              <a:t>measurements · records · improve · next · crop · cycle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